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59" r:id="rId5"/>
    <p:sldMasterId id="2147483888" r:id="rId6"/>
  </p:sldMasterIdLst>
  <p:notesMasterIdLst>
    <p:notesMasterId r:id="rId35"/>
  </p:notesMasterIdLst>
  <p:handoutMasterIdLst>
    <p:handoutMasterId r:id="rId36"/>
  </p:handoutMasterIdLst>
  <p:sldIdLst>
    <p:sldId id="276" r:id="rId7"/>
    <p:sldId id="295" r:id="rId8"/>
    <p:sldId id="260" r:id="rId9"/>
    <p:sldId id="263" r:id="rId10"/>
    <p:sldId id="307" r:id="rId11"/>
    <p:sldId id="270" r:id="rId12"/>
    <p:sldId id="308" r:id="rId13"/>
    <p:sldId id="310" r:id="rId14"/>
    <p:sldId id="269" r:id="rId15"/>
    <p:sldId id="311" r:id="rId16"/>
    <p:sldId id="312" r:id="rId17"/>
    <p:sldId id="317" r:id="rId18"/>
    <p:sldId id="316" r:id="rId19"/>
    <p:sldId id="318" r:id="rId20"/>
    <p:sldId id="319" r:id="rId21"/>
    <p:sldId id="313" r:id="rId22"/>
    <p:sldId id="298" r:id="rId23"/>
    <p:sldId id="302" r:id="rId24"/>
    <p:sldId id="305" r:id="rId25"/>
    <p:sldId id="303" r:id="rId26"/>
    <p:sldId id="304" r:id="rId27"/>
    <p:sldId id="306" r:id="rId28"/>
    <p:sldId id="293" r:id="rId29"/>
    <p:sldId id="292" r:id="rId30"/>
    <p:sldId id="265" r:id="rId31"/>
    <p:sldId id="261" r:id="rId32"/>
    <p:sldId id="294" r:id="rId33"/>
    <p:sldId id="299" r:id="rId34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FF5"/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62C71-00B0-530D-7440-5793F3CF129E}" v="3" dt="2025-05-21T07:11:41.540"/>
    <p1510:client id="{3D27452F-58C4-6182-27B6-6BF035841383}" v="216" dt="2025-05-21T15:34:21.013"/>
    <p1510:client id="{48120A78-3254-1D95-5D1D-117C2EF88BCB}" v="302" dt="2025-05-19T20:28:08.590"/>
    <p1510:client id="{620B0B15-B115-5AB1-6299-86E2700DF430}" v="6" dt="2025-05-19T20:13:18.037"/>
    <p1510:client id="{6C13F60D-1632-16A2-059C-6A88D90CAA6B}" v="24" dt="2025-05-21T12:14:37.714"/>
    <p1510:client id="{6ECF4B59-8F64-EF8F-A49D-3C2639309AAA}" v="45" dt="2025-05-20T16:50:42.013"/>
    <p1510:client id="{82C11F49-34CA-F033-7BB8-775431A7A980}" v="71" dt="2025-05-19T18:27:13.261"/>
    <p1510:client id="{A314BCA0-E192-DC5A-7E51-20A463F6D10F}" v="780" dt="2025-05-19T20:44:46.622"/>
    <p1510:client id="{C8025186-49B7-9A3F-8167-8243C7FC2B5C}" v="1012" dt="2025-05-21T10:58:34.181"/>
    <p1510:client id="{FC139BFD-23CC-AB91-9C8F-D88642F90D29}" v="1058" dt="2025-05-20T18:54:20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21/05/2025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21/05/2025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AB29-19D3-6616-ADA2-D82F9CB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CFC26-D42C-7BFE-5F6E-89DBFB65D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526E8-1D96-6644-E309-72B4E24FF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>
                <a:ea typeface="ＭＳ Ｐゴシック"/>
                <a:cs typeface="Calibri"/>
              </a:rPr>
              <a:t>Headache</a:t>
            </a:r>
            <a:r>
              <a:rPr lang="fr-FR" dirty="0">
                <a:ea typeface="ＭＳ Ｐゴシック"/>
                <a:cs typeface="Calibri"/>
              </a:rPr>
              <a:t> … Most of us </a:t>
            </a:r>
            <a:r>
              <a:rPr lang="fr-FR" dirty="0" err="1">
                <a:ea typeface="ＭＳ Ｐゴシック"/>
                <a:cs typeface="Calibri"/>
              </a:rPr>
              <a:t>rely</a:t>
            </a:r>
            <a:r>
              <a:rPr lang="fr-FR" dirty="0">
                <a:ea typeface="ＭＳ Ｐゴシック"/>
                <a:cs typeface="Calibri"/>
              </a:rPr>
              <a:t> on memory, </a:t>
            </a:r>
            <a:r>
              <a:rPr lang="fr-FR" dirty="0" err="1">
                <a:ea typeface="ＭＳ Ｐゴシック"/>
                <a:cs typeface="Calibri"/>
              </a:rPr>
              <a:t>dig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through</a:t>
            </a:r>
            <a:r>
              <a:rPr lang="fr-FR" dirty="0">
                <a:ea typeface="ＭＳ Ｐゴシック"/>
                <a:cs typeface="Calibri"/>
              </a:rPr>
              <a:t> piles of </a:t>
            </a:r>
            <a:r>
              <a:rPr lang="fr-FR" dirty="0" err="1">
                <a:ea typeface="ＭＳ Ｐゴシック"/>
                <a:cs typeface="Calibri"/>
              </a:rPr>
              <a:t>clothes</a:t>
            </a:r>
            <a:r>
              <a:rPr lang="fr-FR" dirty="0">
                <a:ea typeface="ＭＳ Ｐゴシック"/>
                <a:cs typeface="Calibri"/>
              </a:rPr>
              <a:t>, or </a:t>
            </a:r>
            <a:r>
              <a:rPr lang="fr-FR" dirty="0" err="1">
                <a:ea typeface="ＭＳ Ｐゴシック"/>
                <a:cs typeface="Calibri"/>
              </a:rPr>
              <a:t>just</a:t>
            </a:r>
            <a:r>
              <a:rPr lang="fr-FR" dirty="0">
                <a:ea typeface="ＭＳ Ｐゴシック"/>
                <a:cs typeface="Calibri"/>
              </a:rPr>
              <a:t> end up </a:t>
            </a:r>
            <a:r>
              <a:rPr lang="fr-FR" dirty="0" err="1">
                <a:ea typeface="ＭＳ Ｐゴシック"/>
                <a:cs typeface="Calibri"/>
              </a:rPr>
              <a:t>wearing</a:t>
            </a:r>
            <a:r>
              <a:rPr lang="fr-FR" dirty="0">
                <a:ea typeface="ＭＳ Ｐゴシック"/>
                <a:cs typeface="Calibri"/>
              </a:rPr>
              <a:t> the </a:t>
            </a:r>
            <a:r>
              <a:rPr lang="fr-FR" dirty="0" err="1">
                <a:ea typeface="ＭＳ Ｐゴシック"/>
                <a:cs typeface="Calibri"/>
              </a:rPr>
              <a:t>same</a:t>
            </a:r>
            <a:r>
              <a:rPr lang="fr-FR" dirty="0">
                <a:ea typeface="ＭＳ Ｐゴシック"/>
                <a:cs typeface="Calibri"/>
              </a:rPr>
              <a:t> few </a:t>
            </a:r>
            <a:r>
              <a:rPr lang="fr-FR" dirty="0" err="1">
                <a:ea typeface="ＭＳ Ｐゴシック"/>
                <a:cs typeface="Calibri"/>
              </a:rPr>
              <a:t>pieces</a:t>
            </a:r>
            <a:r>
              <a:rPr lang="fr-FR" dirty="0">
                <a:ea typeface="ＭＳ Ｐゴシック"/>
                <a:cs typeface="Calibri"/>
              </a:rPr>
              <a:t> over and over. That </a:t>
            </a:r>
            <a:r>
              <a:rPr lang="fr-FR" dirty="0" err="1">
                <a:ea typeface="ＭＳ Ｐゴシック"/>
                <a:cs typeface="Calibri"/>
              </a:rPr>
              <a:t>means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forgotten</a:t>
            </a:r>
            <a:r>
              <a:rPr lang="fr-FR" dirty="0">
                <a:ea typeface="ＭＳ Ｐゴシック"/>
                <a:cs typeface="Calibri"/>
              </a:rPr>
              <a:t> favorites, </a:t>
            </a:r>
            <a:r>
              <a:rPr lang="fr-FR" dirty="0" err="1">
                <a:ea typeface="ＭＳ Ｐゴシック"/>
                <a:cs typeface="Calibri"/>
              </a:rPr>
              <a:t>wasted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closet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space</a:t>
            </a:r>
            <a:r>
              <a:rPr lang="fr-FR" dirty="0">
                <a:ea typeface="ＭＳ Ｐゴシック"/>
                <a:cs typeface="Calibri"/>
              </a:rPr>
              <a:t>, and last-minute </a:t>
            </a:r>
            <a:r>
              <a:rPr lang="fr-FR" dirty="0" err="1">
                <a:ea typeface="ＭＳ Ｐゴシック"/>
                <a:cs typeface="Calibri"/>
              </a:rPr>
              <a:t>outfit</a:t>
            </a:r>
            <a:r>
              <a:rPr lang="fr-FR" dirty="0">
                <a:ea typeface="ＭＳ Ｐゴシック"/>
                <a:cs typeface="Calibri"/>
              </a:rPr>
              <a:t> stress—</a:t>
            </a:r>
            <a:r>
              <a:rPr lang="fr-FR" dirty="0" err="1">
                <a:ea typeface="ＭＳ Ｐゴシック"/>
                <a:cs typeface="Calibri"/>
              </a:rPr>
              <a:t>especially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when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you're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trying</a:t>
            </a:r>
            <a:r>
              <a:rPr lang="fr-FR" dirty="0">
                <a:ea typeface="ＭＳ Ｐゴシック"/>
                <a:cs typeface="Calibri"/>
              </a:rPr>
              <a:t> to </a:t>
            </a:r>
            <a:r>
              <a:rPr lang="fr-FR" dirty="0" err="1">
                <a:ea typeface="ＭＳ Ｐゴシック"/>
                <a:cs typeface="Calibri"/>
              </a:rPr>
              <a:t>dress</a:t>
            </a:r>
            <a:r>
              <a:rPr lang="fr-FR" dirty="0">
                <a:ea typeface="ＭＳ Ｐゴシック"/>
                <a:cs typeface="Calibri"/>
              </a:rPr>
              <a:t> for the </a:t>
            </a:r>
            <a:r>
              <a:rPr lang="fr-FR" dirty="0" err="1">
                <a:ea typeface="ＭＳ Ｐゴシック"/>
                <a:cs typeface="Calibri"/>
              </a:rPr>
              <a:t>weather</a:t>
            </a:r>
            <a:r>
              <a:rPr lang="fr-FR" dirty="0">
                <a:ea typeface="ＭＳ Ｐゴシック"/>
                <a:cs typeface="Calibri"/>
              </a:rPr>
              <a:t> or a </a:t>
            </a:r>
            <a:r>
              <a:rPr lang="fr-FR" dirty="0" err="1">
                <a:ea typeface="ＭＳ Ｐゴシック"/>
                <a:cs typeface="Calibri"/>
              </a:rPr>
              <a:t>special</a:t>
            </a:r>
            <a:r>
              <a:rPr lang="fr-FR" dirty="0">
                <a:ea typeface="ＭＳ Ｐゴシック"/>
                <a:cs typeface="Calibri"/>
              </a:rPr>
              <a:t> occasion.  in reality ...</a:t>
            </a:r>
          </a:p>
          <a:p>
            <a:r>
              <a:rPr lang="fr-FR" dirty="0" err="1">
                <a:ea typeface="ＭＳ Ｐゴシック"/>
                <a:cs typeface="Calibri"/>
              </a:rPr>
              <a:t>We</a:t>
            </a:r>
            <a:r>
              <a:rPr lang="fr-FR" dirty="0">
                <a:ea typeface="ＭＳ Ｐゴシック"/>
                <a:cs typeface="Calibri"/>
              </a:rPr>
              <a:t> are </a:t>
            </a:r>
            <a:r>
              <a:rPr lang="fr-FR" dirty="0" err="1">
                <a:ea typeface="ＭＳ Ｐゴシック"/>
                <a:cs typeface="Calibri"/>
              </a:rPr>
              <a:t>Karenlea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fatima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marylin</a:t>
            </a:r>
            <a:r>
              <a:rPr lang="fr-FR" dirty="0">
                <a:ea typeface="ＭＳ Ｐゴシック"/>
                <a:cs typeface="Calibri"/>
              </a:rPr>
              <a:t> CCE </a:t>
            </a:r>
            <a:r>
              <a:rPr lang="fr-FR" dirty="0" err="1">
                <a:ea typeface="ＭＳ Ｐゴシック"/>
                <a:cs typeface="Calibri"/>
              </a:rPr>
              <a:t>STudent</a:t>
            </a:r>
            <a:r>
              <a:rPr lang="fr-FR" dirty="0">
                <a:ea typeface="ＭＳ Ｐゴシック"/>
                <a:cs typeface="Calibri"/>
              </a:rPr>
              <a:t> and </a:t>
            </a:r>
            <a:r>
              <a:rPr lang="fr-FR" dirty="0" err="1">
                <a:ea typeface="ＭＳ Ｐゴシック"/>
                <a:cs typeface="Calibri"/>
              </a:rPr>
              <a:t>we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present</a:t>
            </a:r>
            <a:r>
              <a:rPr lang="fr-FR" dirty="0">
                <a:ea typeface="ＭＳ Ｐゴシック"/>
                <a:cs typeface="Calibri"/>
              </a:rPr>
              <a:t> to </a:t>
            </a:r>
            <a:r>
              <a:rPr lang="fr-FR" dirty="0" err="1">
                <a:ea typeface="ＭＳ Ｐゴシック"/>
                <a:cs typeface="Calibri"/>
              </a:rPr>
              <a:t>you</a:t>
            </a:r>
            <a:r>
              <a:rPr lang="fr-FR" dirty="0">
                <a:ea typeface="ＭＳ Ｐゴシック"/>
                <a:cs typeface="Calibri"/>
              </a:rPr>
              <a:t> Smart </a:t>
            </a:r>
            <a:r>
              <a:rPr lang="fr-FR" dirty="0" err="1">
                <a:ea typeface="ＭＳ Ｐゴシック"/>
                <a:cs typeface="Calibri"/>
              </a:rPr>
              <a:t>closet</a:t>
            </a:r>
            <a:r>
              <a:rPr lang="fr-FR" dirty="0">
                <a:ea typeface="ＭＳ Ｐゴシック"/>
                <a:cs typeface="Calibri"/>
              </a:rPr>
              <a:t>, </a:t>
            </a:r>
            <a:r>
              <a:rPr lang="fr-FR" dirty="0" err="1">
                <a:ea typeface="ＭＳ Ｐゴシック"/>
                <a:cs typeface="Calibri"/>
              </a:rPr>
              <a:t>our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project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addresses</a:t>
            </a:r>
            <a:r>
              <a:rPr lang="fr-FR" dirty="0">
                <a:ea typeface="ＭＳ Ｐゴシック"/>
                <a:cs typeface="Calibri"/>
              </a:rPr>
              <a:t> a </a:t>
            </a:r>
            <a:r>
              <a:rPr lang="fr-FR" dirty="0" err="1">
                <a:ea typeface="ＭＳ Ｐゴシック"/>
                <a:cs typeface="Calibri"/>
              </a:rPr>
              <a:t>complex</a:t>
            </a:r>
            <a:r>
              <a:rPr lang="fr-FR" dirty="0">
                <a:ea typeface="ＭＳ Ｐゴシック"/>
                <a:cs typeface="Calibri"/>
              </a:rPr>
              <a:t> engineering....... </a:t>
            </a:r>
          </a:p>
          <a:p>
            <a:r>
              <a:rPr lang="fr-FR" dirty="0" err="1">
                <a:ea typeface="ＭＳ Ｐゴシック"/>
                <a:cs typeface="Calibri"/>
              </a:rPr>
              <a:t>It's</a:t>
            </a:r>
            <a:r>
              <a:rPr lang="fr-FR" dirty="0">
                <a:ea typeface="ＭＳ Ｐゴシック"/>
                <a:cs typeface="Calibri"/>
              </a:rPr>
              <a:t> not </a:t>
            </a:r>
            <a:r>
              <a:rPr lang="fr-FR" dirty="0" err="1">
                <a:ea typeface="ＭＳ Ｐゴシック"/>
                <a:cs typeface="Calibri"/>
              </a:rPr>
              <a:t>just</a:t>
            </a:r>
            <a:r>
              <a:rPr lang="fr-FR" dirty="0">
                <a:ea typeface="ＭＳ Ｐゴシック"/>
                <a:cs typeface="Calibri"/>
              </a:rPr>
              <a:t> one </a:t>
            </a:r>
            <a:r>
              <a:rPr lang="fr-FR" dirty="0" err="1">
                <a:ea typeface="ＭＳ Ｐゴシック"/>
                <a:cs typeface="Calibri"/>
              </a:rPr>
              <a:t>taskit's</a:t>
            </a:r>
            <a:r>
              <a:rPr lang="fr-FR" dirty="0">
                <a:ea typeface="ＭＳ Ｐゴシック"/>
                <a:cs typeface="Calibri"/>
              </a:rPr>
              <a:t> a system </a:t>
            </a:r>
            <a:r>
              <a:rPr lang="fr-FR" dirty="0" err="1">
                <a:ea typeface="ＭＳ Ｐゴシック"/>
                <a:cs typeface="Calibri"/>
              </a:rPr>
              <a:t>with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many</a:t>
            </a:r>
            <a:r>
              <a:rPr lang="fr-FR" dirty="0">
                <a:ea typeface="ＭＳ Ｐゴシック"/>
                <a:cs typeface="Calibri"/>
              </a:rPr>
              <a:t> components </a:t>
            </a:r>
            <a:r>
              <a:rPr lang="fr-FR" dirty="0" err="1">
                <a:ea typeface="ＭＳ Ｐゴシック"/>
                <a:cs typeface="Calibri"/>
              </a:rPr>
              <a:t>working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together</a:t>
            </a:r>
            <a:r>
              <a:rPr lang="fr-FR" dirty="0">
                <a:ea typeface="ＭＳ Ｐゴシック"/>
                <a:cs typeface="Calibri"/>
              </a:rPr>
              <a:t>. </a:t>
            </a:r>
            <a:r>
              <a:rPr lang="fr-FR" dirty="0" err="1">
                <a:ea typeface="ＭＳ Ｐゴシック"/>
                <a:cs typeface="Calibri"/>
              </a:rPr>
              <a:t>That’s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why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we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dirty="0" err="1">
                <a:ea typeface="ＭＳ Ｐゴシック"/>
                <a:cs typeface="Calibri"/>
              </a:rPr>
              <a:t>designed</a:t>
            </a:r>
            <a:r>
              <a:rPr lang="fr-FR" dirty="0">
                <a:ea typeface="ＭＳ Ｐゴシック"/>
                <a:cs typeface="Calibri"/>
              </a:rPr>
              <a:t> a smart system </a:t>
            </a:r>
            <a:r>
              <a:rPr lang="fr-FR" dirty="0" err="1">
                <a:ea typeface="ＭＳ Ｐゴシック"/>
                <a:cs typeface="Calibri"/>
              </a:rPr>
              <a:t>combining</a:t>
            </a:r>
            <a:r>
              <a:rPr lang="fr-FR" dirty="0">
                <a:ea typeface="ＭＳ Ｐゴシック"/>
                <a:cs typeface="Calibri"/>
              </a:rPr>
              <a:t> </a:t>
            </a:r>
            <a:r>
              <a:rPr lang="fr-FR" b="1" dirty="0">
                <a:ea typeface="ＭＳ Ｐゴシック"/>
                <a:cs typeface="Calibri"/>
              </a:rPr>
              <a:t>computer vision, machine </a:t>
            </a:r>
            <a:r>
              <a:rPr lang="fr-FR" b="1" dirty="0" err="1">
                <a:ea typeface="ＭＳ Ｐゴシック"/>
                <a:cs typeface="Calibri"/>
              </a:rPr>
              <a:t>learning</a:t>
            </a:r>
            <a:r>
              <a:rPr lang="fr-FR" dirty="0">
                <a:ea typeface="ＭＳ Ｐゴシック"/>
                <a:cs typeface="Calibri"/>
              </a:rPr>
              <a:t>, and </a:t>
            </a:r>
            <a:r>
              <a:rPr lang="fr-FR" b="1" dirty="0">
                <a:ea typeface="ＭＳ Ｐゴシック"/>
                <a:cs typeface="Calibri"/>
              </a:rPr>
              <a:t>data </a:t>
            </a:r>
            <a:r>
              <a:rPr lang="fr-FR" b="1" dirty="0" err="1">
                <a:ea typeface="ＭＳ Ｐゴシック"/>
                <a:cs typeface="Calibri"/>
              </a:rPr>
              <a:t>analytics</a:t>
            </a:r>
            <a:r>
              <a:rPr lang="fr-FR" dirty="0">
                <a:ea typeface="ＭＳ Ｐゴシック"/>
                <a:cs typeface="Calibri"/>
              </a:rPr>
              <a:t> to automate and </a:t>
            </a:r>
            <a:r>
              <a:rPr lang="fr-FR" dirty="0" err="1">
                <a:ea typeface="ＭＳ Ｐゴシック"/>
                <a:cs typeface="Calibri"/>
              </a:rPr>
              <a:t>optimize</a:t>
            </a:r>
            <a:r>
              <a:rPr lang="fr-FR" dirty="0">
                <a:ea typeface="ＭＳ Ｐゴシック"/>
                <a:cs typeface="Calibri"/>
              </a:rPr>
              <a:t> the </a:t>
            </a:r>
            <a:r>
              <a:rPr lang="fr-FR" dirty="0" err="1">
                <a:ea typeface="ＭＳ Ｐゴシック"/>
                <a:cs typeface="Calibri"/>
              </a:rPr>
              <a:t>experience</a:t>
            </a:r>
            <a:r>
              <a:rPr lang="fr-FR" dirty="0">
                <a:ea typeface="ＭＳ Ｐゴシック"/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FA056-428D-A478-5219-765AC2EDA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2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65223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43AD-4417-74D9-69CF-C9713EC5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AF35-A737-616D-6297-AD5D9D462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62D9C-1965-7C2E-2336-FB151C234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section, we are exploring 3 different solutions for implementing a Smart Closet, establishing the pros and cons of each, and choosing the best solution design for the project while taking into consideration the technical requirements.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6D06-AEE4-1AF3-7077-088050D65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0431-74D1-2848-9094-DEA74D687A19}" type="slidenum">
              <a:rPr lang="fr-FR" altLang="en-US"/>
              <a:pPr/>
              <a:t>7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495429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Mne7ke les details et les explication </a:t>
            </a:r>
            <a:r>
              <a:rPr lang="en-US" err="1">
                <a:ea typeface="Calibri"/>
                <a:cs typeface="Calibri"/>
              </a:rPr>
              <a:t>comme</a:t>
            </a:r>
            <a:r>
              <a:rPr lang="en-US">
                <a:ea typeface="Calibri"/>
                <a:cs typeface="Calibri"/>
              </a:rPr>
              <a:t> dans le rapport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0431-74D1-2848-9094-DEA74D687A19}" type="slidenum">
              <a:rPr lang="fr-FR" altLang="en-US"/>
              <a:pPr/>
              <a:t>25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97214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/>
              <a:t>MDP23-xx</a:t>
            </a:r>
            <a:endParaRPr lang="fr-FR" alt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/>
              <a:t>Project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52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90" r:id="rId2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mailto:mAP@0.5:0.9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t"/>
          <a:lstStyle/>
          <a:p>
            <a:r>
              <a:rPr lang="en-US" dirty="0"/>
              <a:t>Smart Closet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 vert="horz" lIns="91440" tIns="45720" rIns="91440" bIns="45720" anchor="t"/>
          <a:lstStyle/>
          <a:p>
            <a:r>
              <a:rPr lang="en-US" dirty="0"/>
              <a:t>ESIB Multidisciplinary Project</a:t>
            </a:r>
          </a:p>
          <a:p>
            <a:r>
              <a:rPr lang="en-US" dirty="0"/>
              <a:t>May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 vert="horz" lIns="91440" tIns="45720" rIns="91440" bIns="45720" anchor="t"/>
          <a:lstStyle/>
          <a:p>
            <a:r>
              <a:rPr lang="en-US" dirty="0"/>
              <a:t>MDP25-19</a:t>
            </a:r>
          </a:p>
          <a:p>
            <a:r>
              <a:rPr lang="en-US" dirty="0">
                <a:ea typeface="+mn-lt"/>
                <a:cs typeface="+mn-lt"/>
              </a:rPr>
              <a:t>Fatima Al Rabih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Karen El Khoury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Lea Chamseddine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Marilyn Abou Tayeh</a:t>
            </a:r>
            <a:endParaRPr lang="en-US" dirty="0"/>
          </a:p>
          <a:p>
            <a:endParaRPr lang="en-US">
              <a:cs typeface="Arial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 vert="horz" lIns="91440" tIns="45720" rIns="91440" bIns="45720" anchor="t"/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Dr. Hanan Farhat</a:t>
            </a:r>
          </a:p>
          <a:p>
            <a:endParaRPr lang="en-US"/>
          </a:p>
        </p:txBody>
      </p:sp>
      <p:pic>
        <p:nvPicPr>
          <p:cNvPr id="7" name="Picture 6" descr="A pink swinger with a bow&#10;&#10;AI-generated content may be incorrect.">
            <a:extLst>
              <a:ext uri="{FF2B5EF4-FFF2-40B4-BE49-F238E27FC236}">
                <a16:creationId xmlns:a16="http://schemas.microsoft.com/office/drawing/2014/main" id="{20F1C43D-703D-5D77-3CBC-9AA8B91F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16" t="-243" r="18807" b="11327"/>
          <a:stretch/>
        </p:blipFill>
        <p:spPr>
          <a:xfrm>
            <a:off x="3201649" y="1564800"/>
            <a:ext cx="1943402" cy="1638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9EF0-E58C-7699-B69D-E9925986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6B3038-1C63-BF86-A371-573C448F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DD0396-8517-24CE-0B26-27D033C5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43" y="1094712"/>
            <a:ext cx="6094658" cy="504536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Arial"/>
              </a:rPr>
              <a:t>Problem identification: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>
              <a:buFont typeface="Wingdings,Sans-Serif"/>
              <a:buChar char="§"/>
            </a:pPr>
            <a:r>
              <a:rPr lang="en-US" sz="1800" b="0" dirty="0">
                <a:solidFill>
                  <a:schemeClr val="tx1"/>
                </a:solidFill>
                <a:cs typeface="Arial"/>
              </a:rPr>
              <a:t>Involves diverse stakeholders, including regular people/clients, mobile developers, Ai engineers, fashion specialist.</a:t>
            </a:r>
            <a:r>
              <a:rPr lang="en-GB" sz="1800" b="0" dirty="0">
                <a:solidFill>
                  <a:schemeClr val="tx1"/>
                </a:solidFill>
                <a:cs typeface="Arial"/>
              </a:rPr>
              <a:t> </a:t>
            </a:r>
          </a:p>
          <a:p>
            <a:pPr>
              <a:buFont typeface="Wingdings,Sans-Serif"/>
              <a:buChar char="§"/>
            </a:pPr>
            <a:r>
              <a:rPr lang="en-US" sz="1800" b="0" dirty="0">
                <a:solidFill>
                  <a:schemeClr val="tx1"/>
                </a:solidFill>
                <a:cs typeface="Arial"/>
              </a:rPr>
              <a:t>Contains multiple component parts and technical issues , including image processing, AI suggestion algorithms, backend integration, data processing and IOT</a:t>
            </a:r>
            <a:r>
              <a:rPr lang="en-GB" sz="1800" b="0" dirty="0">
                <a:solidFill>
                  <a:schemeClr val="tx1"/>
                </a:solidFill>
                <a:cs typeface="Arial"/>
              </a:rPr>
              <a:t> </a:t>
            </a:r>
          </a:p>
          <a:p>
            <a:pPr>
              <a:buFont typeface="Wingdings,Sans-Serif"/>
              <a:buChar char="§"/>
            </a:pPr>
            <a:r>
              <a:rPr lang="en-US" sz="1800" b="0" dirty="0">
                <a:solidFill>
                  <a:schemeClr val="tx1"/>
                </a:solidFill>
                <a:cs typeface="Arial"/>
              </a:rPr>
              <a:t>Requires a multidisciplinary approach: Mobile </a:t>
            </a:r>
            <a:r>
              <a:rPr lang="en-US" sz="1800" b="0" err="1">
                <a:solidFill>
                  <a:schemeClr val="tx1"/>
                </a:solidFill>
                <a:cs typeface="Arial"/>
              </a:rPr>
              <a:t>developement</a:t>
            </a:r>
            <a:r>
              <a:rPr lang="en-US" sz="1800" b="0" dirty="0">
                <a:solidFill>
                  <a:schemeClr val="tx1"/>
                </a:solidFill>
                <a:cs typeface="Arial"/>
              </a:rPr>
              <a:t>, machine learning, and data analytics.</a:t>
            </a:r>
            <a:r>
              <a:rPr lang="en-GB" sz="1800" b="0" dirty="0">
                <a:solidFill>
                  <a:schemeClr val="tx1"/>
                </a:solidFill>
                <a:cs typeface="Arial"/>
              </a:rPr>
              <a:t> </a:t>
            </a:r>
          </a:p>
          <a:p>
            <a:pPr>
              <a:buFont typeface="Wingdings,Sans-Serif"/>
              <a:buChar char="§"/>
            </a:pPr>
            <a:endParaRPr lang="en-GB" sz="1800" b="0" dirty="0">
              <a:solidFill>
                <a:schemeClr val="tx1"/>
              </a:solidFill>
              <a:cs typeface="Arial"/>
            </a:endParaRPr>
          </a:p>
          <a:p>
            <a:pPr marL="0" indent="0">
              <a:buNone/>
            </a:pPr>
            <a:endParaRPr lang="en-GB" sz="1800" b="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0EBA31-72D3-2BB4-0578-CB64C2E81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826" y="6590810"/>
            <a:ext cx="4321941" cy="365125"/>
          </a:xfrm>
        </p:spPr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46A14D-0FF0-F530-C3D8-22C56421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</a:t>
            </a:fld>
            <a:endParaRPr lang="fr-FR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E6CA31C-0062-CC98-24A5-DE506CBA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5" name="Picture 4" descr="A person in a closet with clothes on the swingers&#10;&#10;AI-generated content may be incorrect.">
            <a:extLst>
              <a:ext uri="{FF2B5EF4-FFF2-40B4-BE49-F238E27FC236}">
                <a16:creationId xmlns:a16="http://schemas.microsoft.com/office/drawing/2014/main" id="{FF80905E-2EF6-6F39-EE3D-EB33B60E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0" r="680" b="-560"/>
          <a:stretch>
            <a:fillRect/>
          </a:stretch>
        </p:blipFill>
        <p:spPr>
          <a:xfrm>
            <a:off x="6193203" y="2610312"/>
            <a:ext cx="2952868" cy="397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Project Objectives and Outcomes</a:t>
            </a:r>
            <a:br>
              <a:rPr lang="en-US"/>
            </a:br>
            <a:br>
              <a:rPr lang="en-US"/>
            </a:br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09A50E4-D615-C25B-7CD5-8DC0624A1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492782"/>
              </p:ext>
            </p:extLst>
          </p:nvPr>
        </p:nvGraphicFramePr>
        <p:xfrm>
          <a:off x="457200" y="1612702"/>
          <a:ext cx="8229600" cy="324666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2773515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942086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56883122"/>
                    </a:ext>
                  </a:extLst>
                </a:gridCol>
              </a:tblGrid>
              <a:tr h="418130">
                <a:tc>
                  <a:txBody>
                    <a:bodyPr/>
                    <a:lstStyle/>
                    <a:p>
                      <a:r>
                        <a:rPr lang="en-US" sz="1600" b="1"/>
                        <a:t>Objective / Feature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Discipline Involved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30709"/>
                  </a:ext>
                </a:extLst>
              </a:tr>
              <a:tr h="6394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/>
                        <a:t>📷</a:t>
                      </a:r>
                      <a:r>
                        <a:rPr lang="en-US" sz="1400"/>
                        <a:t>Camera-Based Inventory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Automatically detects items via camera when added/removed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Computer Vision, AI, IoT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637297"/>
                  </a:ext>
                </a:extLst>
              </a:tr>
              <a:tr h="6394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/>
                        <a:t>👗</a:t>
                      </a:r>
                      <a:r>
                        <a:rPr lang="en-US" sz="1400"/>
                        <a:t>Outfit Suggestion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Recommends outfits based on weather and occasion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AI,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37315"/>
                  </a:ext>
                </a:extLst>
              </a:tr>
              <a:tr h="9100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/>
                        <a:t>📱</a:t>
                      </a:r>
                      <a:r>
                        <a:rPr lang="en-US" sz="1400"/>
                        <a:t>Mobile App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A user-friendly app that puts the smart closet right at the user's fingertips</a:t>
                      </a:r>
                      <a:endParaRPr lang="en-GB" sz="140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Mobile App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568443"/>
                  </a:ext>
                </a:extLst>
              </a:tr>
              <a:tr h="6394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/>
                        <a:t>📊</a:t>
                      </a:r>
                      <a:r>
                        <a:rPr lang="en-US" sz="1400"/>
                        <a:t>Clothing Usage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Highlights most-used, forgotten items, and wardrobe calendar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Data Analytics, Backend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01360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en-US"/>
              <a:t>Smart Closet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3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7154D2-C539-F861-38B8-5F9D8C1A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99170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82" y="1715108"/>
            <a:ext cx="8229600" cy="2945236"/>
          </a:xfrm>
        </p:spPr>
        <p:txBody>
          <a:bodyPr/>
          <a:lstStyle/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Closet prototype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Offer a user-friendly mobile application for wardrobe management.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Use a camera to capture clothing items entering and exiting the closet.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Detection model to classify and extract the image from the background and detect the clothing item (Top, pants, skirt, </a:t>
            </a: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a</a:t>
            </a:r>
            <a:r>
              <a:rPr lang="en-GB" sz="1800" b="0">
                <a:solidFill>
                  <a:srgbClr val="040C28"/>
                </a:solidFill>
                <a:ea typeface="+mn-lt"/>
                <a:cs typeface="+mn-lt"/>
              </a:rPr>
              <a:t>nd so on</a:t>
            </a:r>
            <a:r>
              <a:rPr lang="en-GB" sz="1800" b="0">
                <a:solidFill>
                  <a:schemeClr val="tx1"/>
                </a:solidFill>
                <a:cs typeface="Arial"/>
              </a:rPr>
              <a:t>)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Provide AI-powered outfit suggestions based on user preferences, weather, and occasion.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 err="1">
                <a:solidFill>
                  <a:schemeClr val="tx1"/>
                </a:solidFill>
                <a:ea typeface="+mn-lt"/>
                <a:cs typeface="+mn-lt"/>
              </a:rPr>
              <a:t>Analyze</a:t>
            </a: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 clothing usage patterns and provide insights. 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r>
              <a:rPr lang="en-GB" sz="1800" b="0">
                <a:solidFill>
                  <a:schemeClr val="tx1"/>
                </a:solidFill>
                <a:ea typeface="+mn-lt"/>
                <a:cs typeface="+mn-lt"/>
              </a:rPr>
              <a:t>Operate with low power consumption.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Char char="Ø"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4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01A1137-0BEE-261F-2524-0311BA5C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  <p:pic>
        <p:nvPicPr>
          <p:cNvPr id="10" name="Picture 9" descr="Recording 2025-05-20 201932.mp4 [video-to-gif output image]">
            <a:extLst>
              <a:ext uri="{FF2B5EF4-FFF2-40B4-BE49-F238E27FC236}">
                <a16:creationId xmlns:a16="http://schemas.microsoft.com/office/drawing/2014/main" id="{84D60245-3018-C8E4-962B-7BB403BFE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318" y="4052984"/>
            <a:ext cx="2082200" cy="22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8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CB73-D79B-52DA-31B6-D04DF78B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37D0-9CB2-D513-3892-C33578C5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9107"/>
            <a:ext cx="8229599" cy="747713"/>
          </a:xfrm>
        </p:spPr>
        <p:txBody>
          <a:bodyPr/>
          <a:lstStyle/>
          <a:p>
            <a:r>
              <a:rPr lang="en-US"/>
              <a:t>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3DC0-AA1E-557A-C854-FA46D8975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2562"/>
            <a:ext cx="8521644" cy="4000081"/>
          </a:xfrm>
        </p:spPr>
        <p:txBody>
          <a:bodyPr/>
          <a:lstStyle/>
          <a:p>
            <a:pPr algn="just">
              <a:buNone/>
            </a:pPr>
            <a:endParaRPr lang="en-US">
              <a:solidFill>
                <a:schemeClr val="tx2"/>
              </a:solidFill>
              <a:cs typeface="Arial"/>
            </a:endParaRPr>
          </a:p>
          <a:p>
            <a:pPr algn="just">
              <a:buNone/>
            </a:pPr>
            <a:r>
              <a:rPr lang="en-US">
                <a:solidFill>
                  <a:schemeClr val="tx2"/>
                </a:solidFill>
                <a:cs typeface="Arial"/>
              </a:rPr>
              <a:t>Technical constraints </a:t>
            </a:r>
            <a:endParaRPr lang="en-US">
              <a:solidFill>
                <a:schemeClr val="tx2"/>
              </a:solidFill>
            </a:endParaRP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Provide AI-powered models that have a low response time.</a:t>
            </a:r>
            <a:endParaRPr lang="en-US">
              <a:solidFill>
                <a:schemeClr val="tx1"/>
              </a:solidFill>
            </a:endParaRP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Operate with low power consumption.</a:t>
            </a:r>
            <a:r>
              <a:rPr lang="en-US" sz="1800" b="0">
                <a:solidFill>
                  <a:schemeClr val="tx1"/>
                </a:solidFill>
                <a:cs typeface="Arial"/>
              </a:rPr>
              <a:t> </a:t>
            </a:r>
            <a:endParaRPr lang="en-US" sz="180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US" sz="1800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r>
              <a:rPr lang="en-US">
                <a:solidFill>
                  <a:schemeClr val="tx2"/>
                </a:solidFill>
                <a:cs typeface="Arial"/>
              </a:rPr>
              <a:t>Non-technical constraints</a:t>
            </a:r>
            <a:r>
              <a:rPr lang="en-US">
                <a:solidFill>
                  <a:schemeClr val="tx1"/>
                </a:solidFill>
                <a:cs typeface="Arial"/>
              </a:rPr>
              <a:t> </a:t>
            </a: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The system should be easy to use.</a:t>
            </a:r>
            <a:r>
              <a:rPr lang="en-US" sz="1800" b="0">
                <a:solidFill>
                  <a:schemeClr val="tx1"/>
                </a:solidFill>
                <a:cs typeface="Arial"/>
              </a:rPr>
              <a:t> </a:t>
            </a:r>
            <a:endParaRPr lang="en-US" sz="180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The mobile app should be user-friendly.</a:t>
            </a:r>
            <a:r>
              <a:rPr lang="en-US" sz="1800" b="0">
                <a:solidFill>
                  <a:schemeClr val="tx1"/>
                </a:solidFill>
                <a:cs typeface="Arial"/>
              </a:rPr>
              <a:t> </a:t>
            </a:r>
            <a:endParaRPr lang="en-US" sz="180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Ensure privacy and data security.</a:t>
            </a:r>
            <a:r>
              <a:rPr lang="en-US" sz="1800" b="0">
                <a:solidFill>
                  <a:schemeClr val="tx1"/>
                </a:solidFill>
                <a:cs typeface="Arial"/>
              </a:rPr>
              <a:t> </a:t>
            </a:r>
            <a:endParaRPr lang="en-US" sz="180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r>
              <a:rPr lang="en-GB" sz="1800" b="0">
                <a:solidFill>
                  <a:schemeClr val="tx1"/>
                </a:solidFill>
                <a:cs typeface="Arial"/>
              </a:rPr>
              <a:t>The solution should be affordable.</a:t>
            </a:r>
            <a:endParaRPr lang="en-US" sz="180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GB" sz="1800" b="0">
              <a:solidFill>
                <a:schemeClr val="tx1"/>
              </a:solidFill>
              <a:cs typeface="Arial"/>
            </a:endParaRPr>
          </a:p>
          <a:p>
            <a:pPr algn="just"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382FD-3FF5-1AA3-159A-1C1A4208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83792-A8AD-992B-7EA6-697C7BE1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5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261F13-219C-02D6-7502-F980FAB3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  <p:pic>
        <p:nvPicPr>
          <p:cNvPr id="8" name="Picture 7" descr="A person holding a jacket&#10;&#10;AI-generated content may be incorrect.">
            <a:extLst>
              <a:ext uri="{FF2B5EF4-FFF2-40B4-BE49-F238E27FC236}">
                <a16:creationId xmlns:a16="http://schemas.microsoft.com/office/drawing/2014/main" id="{6928395A-5A91-B0C3-7CEA-12958C3D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598" y="4641640"/>
            <a:ext cx="2193445" cy="19598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946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8554"/>
            <a:ext cx="8229599" cy="747713"/>
          </a:xfrm>
        </p:spPr>
        <p:txBody>
          <a:bodyPr/>
          <a:lstStyle/>
          <a:p>
            <a:r>
              <a:rPr lang="en-US"/>
              <a:t>Related Works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7BEF7E4-B47F-1FFF-4868-188DEA0D7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498543"/>
              </p:ext>
            </p:extLst>
          </p:nvPr>
        </p:nvGraphicFramePr>
        <p:xfrm>
          <a:off x="455580" y="1393371"/>
          <a:ext cx="8166275" cy="406835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836964">
                  <a:extLst>
                    <a:ext uri="{9D8B030D-6E8A-4147-A177-3AD203B41FA5}">
                      <a16:colId xmlns:a16="http://schemas.microsoft.com/office/drawing/2014/main" val="1517567495"/>
                    </a:ext>
                  </a:extLst>
                </a:gridCol>
                <a:gridCol w="2304057">
                  <a:extLst>
                    <a:ext uri="{9D8B030D-6E8A-4147-A177-3AD203B41FA5}">
                      <a16:colId xmlns:a16="http://schemas.microsoft.com/office/drawing/2014/main" val="1741332396"/>
                    </a:ext>
                  </a:extLst>
                </a:gridCol>
                <a:gridCol w="1983684">
                  <a:extLst>
                    <a:ext uri="{9D8B030D-6E8A-4147-A177-3AD203B41FA5}">
                      <a16:colId xmlns:a16="http://schemas.microsoft.com/office/drawing/2014/main" val="2803556699"/>
                    </a:ext>
                  </a:extLst>
                </a:gridCol>
                <a:gridCol w="2041570">
                  <a:extLst>
                    <a:ext uri="{9D8B030D-6E8A-4147-A177-3AD203B41FA5}">
                      <a16:colId xmlns:a16="http://schemas.microsoft.com/office/drawing/2014/main" val="3920680806"/>
                    </a:ext>
                  </a:extLst>
                </a:gridCol>
              </a:tblGrid>
              <a:tr h="6619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Similar 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Main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Differences  from </a:t>
                      </a:r>
                      <a:r>
                        <a:rPr lang="en-US" sz="1600" err="1"/>
                        <a:t>SmartCloset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621832"/>
                  </a:ext>
                </a:extLst>
              </a:tr>
              <a:tr h="9791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Lucy's Smart closet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AI outfit planning </a:t>
                      </a:r>
                      <a:endParaRPr lang="en-US" sz="140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Gesture &amp; lighting features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/>
                        <a:t>Very  Expensive setup (</a:t>
                      </a:r>
                      <a:r>
                        <a:rPr lang="en-US" sz="1400" err="1"/>
                        <a:t>nfc</a:t>
                      </a:r>
                      <a:r>
                        <a:rPr lang="en-US" sz="1400"/>
                        <a:t> chips)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/>
                        <a:t>Smart Closet uses computer vision, not NFC  making  it less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474848"/>
                  </a:ext>
                </a:extLst>
              </a:tr>
              <a:tr h="12136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u="none" strike="noStrike" noProof="0" err="1"/>
                        <a:t>ACloset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AI tagging + analytics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Cloud access </a:t>
                      </a:r>
                      <a:endParaRPr lang="en-US" sz="140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Social outfit sharing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Manual uploads 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Glitches </a:t>
                      </a:r>
                      <a:endParaRPr lang="en-US" sz="140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Crowded interface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noProof="0" err="1"/>
                        <a:t>ACloset</a:t>
                      </a:r>
                      <a:r>
                        <a:rPr lang="en-GB" sz="1400" u="none" strike="noStrike" noProof="0"/>
                        <a:t> relies on user input with no IoT integration, whereas Smart Closet</a:t>
                      </a:r>
                      <a:r>
                        <a:rPr lang="en-US" sz="1400" u="none" strike="noStrike" noProof="0"/>
                        <a:t> provides automation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406566"/>
                  </a:ext>
                </a:extLst>
              </a:tr>
              <a:tr h="12136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u="none" strike="noStrike" noProof="0"/>
                        <a:t>Samsung Family Hub™ Fridge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Smart home integration 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Meal planning + inventory </a:t>
                      </a:r>
                      <a:endParaRPr lang="en-US" sz="140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Energy monitoring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Pricey </a:t>
                      </a:r>
                      <a:endParaRPr lang="en-US" sz="1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Interface issues </a:t>
                      </a:r>
                      <a:endParaRPr lang="en-US" sz="140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u="none" strike="noStrike" noProof="0"/>
                        <a:t>Limited to kitchen use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/>
                        <a:t>Smart Closet focuses on wardrobe, not food.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8533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</a:t>
            </a:r>
            <a:r>
              <a:rPr lang="fr-FR" err="1">
                <a:cs typeface="Arial"/>
              </a:rPr>
              <a:t>Closet</a:t>
            </a:r>
          </a:p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6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526C30-A7D5-01CB-D1AA-92DF506B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23264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DCE7-7331-B2E0-8490-C5281515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2290-12D6-F823-04DE-EEB4A758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71" y="333644"/>
            <a:ext cx="8229599" cy="747713"/>
          </a:xfrm>
        </p:spPr>
        <p:txBody>
          <a:bodyPr lIns="91440" tIns="45720" rIns="91440" bIns="45720" anchor="t"/>
          <a:lstStyle/>
          <a:p>
            <a:pPr algn="just">
              <a:spcBef>
                <a:spcPct val="20000"/>
              </a:spcBef>
            </a:pPr>
            <a:r>
              <a:rPr lang="en-US" dirty="0"/>
              <a:t>Solution design (1/2) </a:t>
            </a:r>
            <a:endParaRPr lang="en-US" dirty="0">
              <a:cs typeface="Arial"/>
            </a:endParaRPr>
          </a:p>
          <a:p>
            <a:pPr algn="just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E7D8F-0DBD-0E6F-0A87-8D2DB0C4E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097" y="703211"/>
            <a:ext cx="8200541" cy="4932295"/>
          </a:xfrm>
        </p:spPr>
        <p:txBody>
          <a:bodyPr/>
          <a:lstStyle/>
          <a:p>
            <a:pPr algn="just">
              <a:buNone/>
            </a:pPr>
            <a:r>
              <a:rPr lang="en-US" sz="1600"/>
              <a:t> </a:t>
            </a:r>
            <a:endParaRPr lang="en-US"/>
          </a:p>
          <a:p>
            <a:pPr algn="just">
              <a:buNone/>
            </a:pPr>
            <a:endParaRPr lang="en-US">
              <a:cs typeface="Arial"/>
            </a:endParaRPr>
          </a:p>
          <a:p>
            <a:pPr algn="just">
              <a:buNone/>
            </a:pPr>
            <a:endParaRPr lang="en-US">
              <a:cs typeface="Arial"/>
            </a:endParaRPr>
          </a:p>
          <a:p>
            <a:pPr algn="just">
              <a:buNone/>
            </a:pPr>
            <a:endParaRPr lang="en-US">
              <a:cs typeface="Arial"/>
            </a:endParaRPr>
          </a:p>
          <a:p>
            <a:pPr algn="just">
              <a:buNone/>
            </a:pPr>
            <a:endParaRPr lang="en-US">
              <a:cs typeface="Arial"/>
            </a:endParaRPr>
          </a:p>
          <a:p>
            <a:pPr marL="0" indent="0" algn="just">
              <a:buNone/>
            </a:pPr>
            <a:endParaRPr lang="en-US" sz="1800">
              <a:solidFill>
                <a:schemeClr val="tx2"/>
              </a:solidFill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algn="just">
              <a:buNone/>
            </a:pPr>
            <a:endParaRPr lang="en-US" sz="1600">
              <a:cs typeface="Arial"/>
            </a:endParaRPr>
          </a:p>
          <a:p>
            <a:pPr marL="0" indent="0" algn="just">
              <a:buNone/>
            </a:pPr>
            <a:endParaRPr lang="en-US" sz="1800" b="0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3AFB9-1275-41F5-BA36-853D5867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6AB6A-1C2F-2763-D4E8-85A0008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7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135EE69-85CF-3AFB-418C-28408C629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954E6-0143-3435-B4FF-5B4B21327616}"/>
              </a:ext>
            </a:extLst>
          </p:cNvPr>
          <p:cNvSpPr txBox="1"/>
          <p:nvPr/>
        </p:nvSpPr>
        <p:spPr>
          <a:xfrm>
            <a:off x="238664" y="871269"/>
            <a:ext cx="49285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A1C72"/>
                </a:solidFill>
                <a:latin typeface="Arial"/>
                <a:ea typeface="ＭＳ Ｐゴシック"/>
              </a:rPr>
              <a:t>Multiple design alternatives</a:t>
            </a:r>
            <a:endParaRPr lang="en-US">
              <a:ea typeface="ＭＳ Ｐゴシック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CC72B7A-6E1B-97C7-3053-BCD10CC37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81481"/>
              </p:ext>
            </p:extLst>
          </p:nvPr>
        </p:nvGraphicFramePr>
        <p:xfrm>
          <a:off x="263325" y="1710496"/>
          <a:ext cx="8463607" cy="3755353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2816634">
                  <a:extLst>
                    <a:ext uri="{9D8B030D-6E8A-4147-A177-3AD203B41FA5}">
                      <a16:colId xmlns:a16="http://schemas.microsoft.com/office/drawing/2014/main" val="2033770400"/>
                    </a:ext>
                  </a:extLst>
                </a:gridCol>
                <a:gridCol w="2665498">
                  <a:extLst>
                    <a:ext uri="{9D8B030D-6E8A-4147-A177-3AD203B41FA5}">
                      <a16:colId xmlns:a16="http://schemas.microsoft.com/office/drawing/2014/main" val="2752119174"/>
                    </a:ext>
                  </a:extLst>
                </a:gridCol>
                <a:gridCol w="2981475">
                  <a:extLst>
                    <a:ext uri="{9D8B030D-6E8A-4147-A177-3AD203B41FA5}">
                      <a16:colId xmlns:a16="http://schemas.microsoft.com/office/drawing/2014/main" val="1615409438"/>
                    </a:ext>
                  </a:extLst>
                </a:gridCol>
              </a:tblGrid>
              <a:tr h="335299">
                <a:tc>
                  <a:txBody>
                    <a:bodyPr/>
                    <a:lstStyle/>
                    <a:p>
                      <a:r>
                        <a:rPr lang="en-US" sz="1600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384466"/>
                  </a:ext>
                </a:extLst>
              </a:tr>
              <a:tr h="818130">
                <a:tc>
                  <a:txBody>
                    <a:bodyPr/>
                    <a:lstStyle/>
                    <a:p>
                      <a:r>
                        <a:rPr lang="en-US" sz="1400" dirty="0"/>
                        <a:t>Manual Input via Mobile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Simple implementation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Low / no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Excessive manual effort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No real-time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54259"/>
                  </a:ext>
                </a:extLst>
              </a:tr>
              <a:tr h="1300962">
                <a:tc>
                  <a:txBody>
                    <a:bodyPr/>
                    <a:lstStyle/>
                    <a:p>
                      <a:r>
                        <a:rPr lang="en-US" sz="1400" dirty="0"/>
                        <a:t>RFID Tracking on Clothes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Real-time tracking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No need for light or good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 dirty="0"/>
                        <a:t>Expensive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Tags are not washable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/>
                        <a:t>Still requires manual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918413"/>
                  </a:ext>
                </a:extLst>
              </a:tr>
              <a:tr h="1300962">
                <a:tc>
                  <a:txBody>
                    <a:bodyPr/>
                    <a:lstStyle/>
                    <a:p>
                      <a:pPr marL="285750" indent="-285750" algn="l">
                        <a:buFont typeface="Wingdings"/>
                        <a:buChar char="ü"/>
                      </a:pPr>
                      <a:r>
                        <a:rPr lang="en-US" sz="1400" dirty="0"/>
                        <a:t>Camera + AI-Based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Real-time inventory tracking 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Automated system 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User-friendly and scalable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Complex implementation 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May still require some manual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040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71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6A39-7E5A-DA2C-36FF-089F339B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A19D-907D-BF35-5ECA-281176DC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design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8DC9-32F5-6725-5032-0ADACD9FA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7663"/>
            <a:ext cx="8229600" cy="4767626"/>
          </a:xfrm>
        </p:spPr>
        <p:txBody>
          <a:bodyPr/>
          <a:lstStyle/>
          <a:p>
            <a:pPr algn="just">
              <a:buNone/>
            </a:pPr>
            <a:r>
              <a:rPr lang="en-US" dirty="0"/>
              <a:t>Problem formulation</a:t>
            </a:r>
          </a:p>
          <a:p>
            <a:pPr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>
              <a:buNone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Managing a wardrobe is time-consuming. This project leverages camera</a:t>
            </a:r>
            <a:endParaRPr lang="en-GB" sz="1800" b="0" dirty="0">
              <a:ea typeface="+mn-lt"/>
              <a:cs typeface="+mn-lt"/>
            </a:endParaRPr>
          </a:p>
          <a:p>
            <a:pPr algn="just">
              <a:buNone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based detection and AI to:</a:t>
            </a:r>
            <a:endParaRPr lang="en-GB" sz="1800" b="0" dirty="0"/>
          </a:p>
          <a:p>
            <a:pPr algn="just">
              <a:buFont typeface="Arial" charset="2"/>
              <a:buChar char="•"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Automatically track clothing items.</a:t>
            </a:r>
            <a:endParaRPr lang="en-GB" sz="1800" b="0" dirty="0">
              <a:ea typeface="+mn-lt"/>
              <a:cs typeface="+mn-lt"/>
            </a:endParaRPr>
          </a:p>
          <a:p>
            <a:pPr algn="just">
              <a:buFont typeface="Arial" charset="2"/>
              <a:buChar char="•"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Suggest outfits (weather/occasion-aware).</a:t>
            </a:r>
            <a:endParaRPr lang="en-GB" sz="1800" b="0" dirty="0">
              <a:ea typeface="+mn-lt"/>
              <a:cs typeface="+mn-lt"/>
            </a:endParaRPr>
          </a:p>
          <a:p>
            <a:pPr algn="just">
              <a:buFont typeface="Arial" charset="2"/>
              <a:buChar char="•"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Provide usage analytics via a local mobile app.</a:t>
            </a:r>
            <a:endParaRPr lang="en-GB" sz="1800" b="0" dirty="0">
              <a:ea typeface="+mn-lt"/>
              <a:cs typeface="+mn-lt"/>
            </a:endParaRPr>
          </a:p>
          <a:p>
            <a:pPr lvl="1" algn="just"/>
            <a:endParaRPr lang="en-GB" sz="1800" dirty="0">
              <a:solidFill>
                <a:srgbClr val="404040"/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GB" sz="1800" b="0" dirty="0">
                <a:solidFill>
                  <a:srgbClr val="404040"/>
                </a:solidFill>
                <a:ea typeface="+mn-lt"/>
                <a:cs typeface="+mn-lt"/>
              </a:rPr>
              <a:t>Goal: An intelligent, energy-efficient system to simplify wardrobe management.</a:t>
            </a:r>
          </a:p>
          <a:p>
            <a:pPr algn="just">
              <a:buNone/>
            </a:pPr>
            <a:endParaRPr lang="en-GB" sz="1800" b="0" dirty="0">
              <a:solidFill>
                <a:schemeClr val="tx1"/>
              </a:solidFill>
              <a:ea typeface="+mn-lt"/>
              <a:cs typeface="+mn-lt"/>
            </a:endParaRPr>
          </a:p>
          <a:p>
            <a:pPr algn="just">
              <a:buNone/>
            </a:pPr>
            <a:endParaRPr lang="en-GB" sz="1800" b="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D1703-1462-CB33-549E-612BA69F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</a:t>
            </a:r>
            <a:r>
              <a:rPr lang="fr-FR" err="1">
                <a:cs typeface="Arial"/>
              </a:rPr>
              <a:t>Closet</a:t>
            </a:r>
            <a:endParaRPr lang="fr-FR" err="1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80543-9FC3-A006-6A56-6D8ADA51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8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71523A3-4496-54AC-C9C9-7E966A8C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4" name="Picture 3" descr="A group of t-shirts on a wire&#10;&#10;AI-generated content may be incorrect.">
            <a:extLst>
              <a:ext uri="{FF2B5EF4-FFF2-40B4-BE49-F238E27FC236}">
                <a16:creationId xmlns:a16="http://schemas.microsoft.com/office/drawing/2014/main" id="{8F0E4C6D-A1EE-F1AA-0FBC-F7DFF0B5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5" t="11856" b="-2577"/>
          <a:stretch>
            <a:fillRect/>
          </a:stretch>
        </p:blipFill>
        <p:spPr>
          <a:xfrm rot="507182">
            <a:off x="4160522" y="702162"/>
            <a:ext cx="4887502" cy="18931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263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Project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2556"/>
            <a:ext cx="8463280" cy="5285786"/>
          </a:xfrm>
        </p:spPr>
        <p:txBody>
          <a:bodyPr/>
          <a:lstStyle/>
          <a:p>
            <a:pPr algn="just"/>
            <a:r>
              <a:rPr lang="en-US" dirty="0"/>
              <a:t>Project planning </a:t>
            </a: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/>
            <a:endParaRPr lang="en-US" dirty="0">
              <a:cs typeface="Arial"/>
            </a:endParaRPr>
          </a:p>
          <a:p>
            <a:pPr algn="just">
              <a:lnSpc>
                <a:spcPts val="2100"/>
              </a:lnSpc>
              <a:spcBef>
                <a:spcPct val="0"/>
              </a:spcBef>
              <a:buFont typeface="Wingdings"/>
              <a:buChar char="§"/>
            </a:pPr>
            <a:r>
              <a:rPr lang="en-US" dirty="0">
                <a:cs typeface="Arial"/>
              </a:rPr>
              <a:t>Conflict Management</a:t>
            </a:r>
            <a:r>
              <a:rPr lang="en-US" b="0" dirty="0">
                <a:solidFill>
                  <a:srgbClr val="000000"/>
                </a:solidFill>
                <a:cs typeface="Arial"/>
              </a:rPr>
              <a:t> </a:t>
            </a:r>
            <a:endParaRPr lang="en-US" dirty="0"/>
          </a:p>
          <a:p>
            <a:pPr marL="0" indent="0" algn="just">
              <a:lnSpc>
                <a:spcPts val="2100"/>
              </a:lnSpc>
              <a:spcBef>
                <a:spcPct val="0"/>
              </a:spcBef>
              <a:buNone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lvl="1">
              <a:lnSpc>
                <a:spcPts val="1725"/>
              </a:lnSpc>
              <a:spcBef>
                <a:spcPct val="0"/>
              </a:spcBef>
              <a:buFont typeface="Arial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Encouraging Open Dialogue and Active Listening 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lvl="1">
              <a:lnSpc>
                <a:spcPts val="1725"/>
              </a:lnSpc>
              <a:spcBef>
                <a:spcPct val="0"/>
              </a:spcBef>
              <a:buFont typeface="Arial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Implementing Collaborative Problem-Solving Techniques 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lvl="1">
              <a:lnSpc>
                <a:spcPts val="1725"/>
              </a:lnSpc>
              <a:spcBef>
                <a:spcPct val="0"/>
              </a:spcBef>
              <a:buFont typeface="Arial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Leveraging Conflict Management Styles 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lvl="1">
              <a:lnSpc>
                <a:spcPts val="1725"/>
              </a:lnSpc>
              <a:spcBef>
                <a:spcPct val="0"/>
              </a:spcBef>
              <a:buFont typeface="Arial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Focusing on Emotional Intelligence 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lvl="1">
              <a:lnSpc>
                <a:spcPts val="1725"/>
              </a:lnSpc>
              <a:spcBef>
                <a:spcPct val="0"/>
              </a:spcBef>
              <a:buFont typeface="Arial"/>
              <a:buChar char="•"/>
            </a:pPr>
            <a:r>
              <a:rPr lang="en-GB" sz="1800" dirty="0">
                <a:solidFill>
                  <a:srgbClr val="000000"/>
                </a:solidFill>
                <a:cs typeface="Arial"/>
              </a:rPr>
              <a:t>Engaging a Neutral Third Party When Needed 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9</a:t>
            </a:fld>
            <a:endParaRPr lang="fr-FR" alt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B584420-14A9-F7AF-D139-A44ACEBC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08A555-B8F2-E360-45B5-33FDC113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77" y="1514360"/>
            <a:ext cx="8083669" cy="3076480"/>
          </a:xfrm>
          <a:prstGeom prst="rect">
            <a:avLst/>
          </a:prstGeom>
        </p:spPr>
      </p:pic>
      <p:pic>
        <p:nvPicPr>
          <p:cNvPr id="7" name="Picture 6" descr="A black and white handshake&#10;&#10;AI-generated content may be incorrect.">
            <a:extLst>
              <a:ext uri="{FF2B5EF4-FFF2-40B4-BE49-F238E27FC236}">
                <a16:creationId xmlns:a16="http://schemas.microsoft.com/office/drawing/2014/main" id="{751C42A0-6FC0-26D3-32BC-82D209244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92" y="5300662"/>
            <a:ext cx="1460047" cy="104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4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45E8-5BDB-0D86-25E1-AF011B72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B648-2DF2-88F5-ADD6-B26392DE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(1/12)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EADC-B0A3-4C87-41F8-67818B66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5CCFC-74D0-ABF4-4EC5-EF32D8E1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10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53304B0-49AC-A6BB-EE22-027BB815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4" name="Graphic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FA4EC7-EA14-3000-35A5-CEB6A0238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090" y="4149010"/>
            <a:ext cx="1289751" cy="1061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E915A6-D820-C752-CE7B-9E25CCC6E4A6}"/>
              </a:ext>
            </a:extLst>
          </p:cNvPr>
          <p:cNvSpPr txBox="1"/>
          <p:nvPr/>
        </p:nvSpPr>
        <p:spPr>
          <a:xfrm>
            <a:off x="367262" y="5381927"/>
            <a:ext cx="23516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A1C72"/>
                </a:solidFill>
                <a:latin typeface="Calibri"/>
                <a:ea typeface="ＭＳ Ｐゴシック"/>
                <a:cs typeface="Calibri"/>
              </a:rPr>
              <a:t>Kotlin</a:t>
            </a:r>
            <a:endParaRPr lang="en-US" sz="2000" b="1">
              <a:solidFill>
                <a:srgbClr val="0A1C72"/>
              </a:solidFill>
              <a:cs typeface="Calibri" charset="0"/>
            </a:endParaRPr>
          </a:p>
          <a:p>
            <a:r>
              <a:rPr lang="en-US" sz="2000" b="1">
                <a:solidFill>
                  <a:srgbClr val="0A1C72"/>
                </a:solidFill>
                <a:latin typeface="Calibri"/>
                <a:ea typeface="ＭＳ Ｐゴシック"/>
                <a:cs typeface="Calibri"/>
              </a:rPr>
              <a:t>Jetpack Compose</a:t>
            </a:r>
            <a:endParaRPr lang="en-US" sz="2000" b="1">
              <a:solidFill>
                <a:srgbClr val="0A1C72"/>
              </a:solidFill>
              <a:cs typeface="Calibri"/>
            </a:endParaRPr>
          </a:p>
        </p:txBody>
      </p:sp>
      <p:pic>
        <p:nvPicPr>
          <p:cNvPr id="11" name="Picture 10" descr="Android Studio Download Free - 2024.3.2.14 | TechSpot">
            <a:extLst>
              <a:ext uri="{FF2B5EF4-FFF2-40B4-BE49-F238E27FC236}">
                <a16:creationId xmlns:a16="http://schemas.microsoft.com/office/drawing/2014/main" id="{42994357-83AB-8E57-EF04-0DEAD7C35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4" y="3891882"/>
            <a:ext cx="1395896" cy="13185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B34000-C418-3352-AA06-D999208FD19E}"/>
              </a:ext>
            </a:extLst>
          </p:cNvPr>
          <p:cNvSpPr txBox="1"/>
          <p:nvPr/>
        </p:nvSpPr>
        <p:spPr>
          <a:xfrm>
            <a:off x="460469" y="3428519"/>
            <a:ext cx="23384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A1C72"/>
                </a:solidFill>
                <a:latin typeface="Calibri"/>
                <a:ea typeface="ＭＳ Ｐゴシック"/>
                <a:cs typeface="Calibri"/>
              </a:rPr>
              <a:t>Android Studio</a:t>
            </a:r>
            <a:endParaRPr lang="en-US" b="1">
              <a:solidFill>
                <a:srgbClr val="0A1C72"/>
              </a:solidFill>
              <a:cs typeface="Calibri"/>
            </a:endParaRPr>
          </a:p>
        </p:txBody>
      </p:sp>
      <p:pic>
        <p:nvPicPr>
          <p:cNvPr id="14" name="Picture 13" descr="A screenshot of a closet&#10;&#10;AI-generated content may be incorrect.">
            <a:extLst>
              <a:ext uri="{FF2B5EF4-FFF2-40B4-BE49-F238E27FC236}">
                <a16:creationId xmlns:a16="http://schemas.microsoft.com/office/drawing/2014/main" id="{DE583572-426A-276E-079E-351410105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514" y="3474119"/>
            <a:ext cx="2947033" cy="24109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65DA4E-6402-690C-7AD4-7CC6BB12CDAB}"/>
              </a:ext>
            </a:extLst>
          </p:cNvPr>
          <p:cNvSpPr txBox="1"/>
          <p:nvPr/>
        </p:nvSpPr>
        <p:spPr>
          <a:xfrm>
            <a:off x="366517" y="1254466"/>
            <a:ext cx="5454282" cy="2410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206"/>
              </a:lnSpc>
            </a:pPr>
            <a:r>
              <a:rPr lang="en-US" sz="2200" b="1">
                <a:solidFill>
                  <a:srgbClr val="1F497D"/>
                </a:solidFill>
                <a:latin typeface="Arial"/>
                <a:ea typeface="ＭＳ Ｐゴシック"/>
              </a:rPr>
              <a:t>General Architecture</a:t>
            </a:r>
            <a:r>
              <a:rPr lang="en-US" sz="2200" b="1">
                <a:latin typeface="Arial"/>
                <a:ea typeface="ＭＳ Ｐゴシック"/>
              </a:rPr>
              <a:t>​</a:t>
            </a:r>
          </a:p>
          <a:p>
            <a:pPr algn="just">
              <a:lnSpc>
                <a:spcPts val="2206"/>
              </a:lnSpc>
            </a:pPr>
            <a:endParaRPr lang="en-US" sz="2200" b="1">
              <a:latin typeface="Arial"/>
              <a:ea typeface="ＭＳ Ｐゴシック"/>
              <a:cs typeface="Arial"/>
            </a:endParaRP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GB" sz="1800" err="1">
                <a:latin typeface="Arial"/>
                <a:ea typeface="ＭＳ Ｐゴシック"/>
                <a:cs typeface="Arial"/>
              </a:rPr>
              <a:t>Postgresql</a:t>
            </a:r>
            <a:r>
              <a:rPr lang="en-GB" sz="1800">
                <a:latin typeface="Arial"/>
                <a:ea typeface="ＭＳ Ｐゴシック"/>
                <a:cs typeface="Arial"/>
              </a:rPr>
              <a:t> database + </a:t>
            </a:r>
            <a:r>
              <a:rPr lang="en-GB" sz="1800" err="1">
                <a:latin typeface="Arial"/>
                <a:ea typeface="ＭＳ Ｐゴシック"/>
                <a:cs typeface="Arial"/>
              </a:rPr>
              <a:t>Supabase</a:t>
            </a:r>
            <a:r>
              <a:rPr lang="en-GB" sz="1800">
                <a:latin typeface="Arial"/>
                <a:ea typeface="ＭＳ Ｐゴシック"/>
                <a:cs typeface="Arial"/>
              </a:rPr>
              <a:t>​</a:t>
            </a: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GB" sz="1800" err="1">
                <a:latin typeface="Arial"/>
                <a:ea typeface="ＭＳ Ｐゴシック"/>
                <a:cs typeface="Arial"/>
              </a:rPr>
              <a:t>FastAPI</a:t>
            </a:r>
            <a:r>
              <a:rPr lang="en-GB" sz="1800">
                <a:latin typeface="Arial"/>
                <a:ea typeface="ＭＳ Ｐゴシック"/>
                <a:cs typeface="Arial"/>
              </a:rPr>
              <a:t> backend​</a:t>
            </a: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GB" sz="1800">
                <a:latin typeface="Arial"/>
                <a:ea typeface="ＭＳ Ｐゴシック"/>
                <a:cs typeface="Arial"/>
              </a:rPr>
              <a:t>Android app (Kotlin)​</a:t>
            </a: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GB" sz="1800">
                <a:latin typeface="Arial"/>
                <a:ea typeface="ＭＳ Ｐゴシック"/>
                <a:cs typeface="Arial"/>
              </a:rPr>
              <a:t>Arduino + sensors (IoT)</a:t>
            </a: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endParaRPr lang="en-GB" sz="1800">
              <a:latin typeface="Arial"/>
              <a:cs typeface="Arial"/>
            </a:endParaRPr>
          </a:p>
          <a:p>
            <a:pPr algn="just">
              <a:lnSpc>
                <a:spcPts val="1805"/>
              </a:lnSpc>
            </a:pPr>
            <a:r>
              <a:rPr lang="en-US" b="1">
                <a:solidFill>
                  <a:srgbClr val="0A1C72"/>
                </a:solidFill>
                <a:latin typeface="Calibri"/>
                <a:ea typeface="Calibri"/>
                <a:cs typeface="Calibri"/>
              </a:rPr>
              <a:t>User Interface (UI)</a:t>
            </a:r>
            <a:endParaRPr lang="en-GB" sz="1800">
              <a:latin typeface="Calibri"/>
              <a:cs typeface="Calibri"/>
            </a:endParaRPr>
          </a:p>
          <a:p>
            <a:endParaRPr lang="en-US"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9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0A006-81B8-0D04-6D53-61B54034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4594-9A9F-4AB0-C14C-99BB2B7A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(2/12)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905E9-73FD-8C2D-3970-D75B3538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DAB05-9B20-6500-6914-B4F22BA6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11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423474-245B-5586-844F-7A296E69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46D9A-313D-8618-AFCE-557E82221FE8}"/>
              </a:ext>
            </a:extLst>
          </p:cNvPr>
          <p:cNvSpPr txBox="1"/>
          <p:nvPr/>
        </p:nvSpPr>
        <p:spPr>
          <a:xfrm>
            <a:off x="456814" y="1031332"/>
            <a:ext cx="28436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A1C72"/>
                </a:solidFill>
                <a:latin typeface="Calibri"/>
                <a:ea typeface="ＭＳ Ｐゴシック"/>
                <a:cs typeface="Calibri"/>
              </a:rPr>
              <a:t>User Interface (UI)</a:t>
            </a:r>
            <a:endParaRPr lang="en-US" b="1">
              <a:solidFill>
                <a:srgbClr val="0A1C72"/>
              </a:solidFill>
              <a:cs typeface="Calibri"/>
            </a:endParaRPr>
          </a:p>
        </p:txBody>
      </p:sp>
      <p:pic>
        <p:nvPicPr>
          <p:cNvPr id="9" name="Picture 8" descr="A screenshot of a clothing&#10;&#10;AI-generated content may be incorrect.">
            <a:extLst>
              <a:ext uri="{FF2B5EF4-FFF2-40B4-BE49-F238E27FC236}">
                <a16:creationId xmlns:a16="http://schemas.microsoft.com/office/drawing/2014/main" id="{EEC2CEFD-6B69-AB6A-6E07-A188FA574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40" y="1677187"/>
            <a:ext cx="1922889" cy="29580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882E3C52-8D4C-0C06-1D4E-03626A3B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268" y="1673257"/>
            <a:ext cx="1917515" cy="29576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4" name="Picture 13" descr="Screens screenshot of a calendar&#10;&#10;AI-generated content may be incorrect.">
            <a:extLst>
              <a:ext uri="{FF2B5EF4-FFF2-40B4-BE49-F238E27FC236}">
                <a16:creationId xmlns:a16="http://schemas.microsoft.com/office/drawing/2014/main" id="{C3EDF253-DC9C-32CE-24F4-82A07C276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26" y="1673259"/>
            <a:ext cx="1929550" cy="29576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528337FF-1B66-977F-9B57-9446FBE566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75" b="66323"/>
          <a:stretch>
            <a:fillRect/>
          </a:stretch>
        </p:blipFill>
        <p:spPr>
          <a:xfrm>
            <a:off x="3240884" y="4866588"/>
            <a:ext cx="2650480" cy="14847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6" name="Picture 15" descr="Screens screenshot of a computer&#10;&#10;AI-generated content may be incorrect.">
            <a:extLst>
              <a:ext uri="{FF2B5EF4-FFF2-40B4-BE49-F238E27FC236}">
                <a16:creationId xmlns:a16="http://schemas.microsoft.com/office/drawing/2014/main" id="{25C3FCD2-E782-585C-23F2-DA6B3DBB0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857" y="1673257"/>
            <a:ext cx="1923535" cy="29576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797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B377-9147-1D86-4A95-FE3778AF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6841-B5D3-AE0C-77D5-3F50B23D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81" y="4792"/>
            <a:ext cx="8229599" cy="747713"/>
          </a:xfrm>
        </p:spPr>
        <p:txBody>
          <a:bodyPr lIns="91440" tIns="45720" rIns="91440" bIns="45720" anchor="t"/>
          <a:lstStyle/>
          <a:p>
            <a:br>
              <a:rPr lang="en-US" dirty="0"/>
            </a:br>
            <a:r>
              <a:rPr lang="en-US" dirty="0">
                <a:cs typeface="Arial"/>
              </a:rPr>
              <a:t>Solution Implementation (3/12)</a:t>
            </a:r>
            <a:endParaRPr lang="en-US" b="0" dirty="0">
              <a:cs typeface="Arial"/>
            </a:endParaRPr>
          </a:p>
          <a:p>
            <a:r>
              <a:rPr lang="en-US" dirty="0"/>
              <a:t>Mobile Developpement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378D-1B70-B18E-3115-B48E2A054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0404"/>
            <a:ext cx="8229600" cy="5242079"/>
          </a:xfrm>
        </p:spPr>
        <p:txBody>
          <a:bodyPr/>
          <a:lstStyle/>
          <a:p>
            <a:pPr algn="just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Kotlin + Jetpack Compose</a:t>
            </a: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 for modern, declarative UI</a:t>
            </a:r>
            <a:endParaRPr lang="en-US" dirty="0">
              <a:solidFill>
                <a:schemeClr val="tx2"/>
              </a:solidFill>
            </a:endParaRPr>
          </a:p>
          <a:p>
            <a:pPr algn="just">
              <a:buNone/>
            </a:pPr>
            <a:endParaRPr lang="en-US" sz="18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MVVM Architecture</a:t>
            </a: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: clear separation of concerns</a:t>
            </a:r>
            <a:endParaRPr lang="en-US" dirty="0">
              <a:solidFill>
                <a:schemeClr val="tx2"/>
              </a:solidFill>
            </a:endParaRPr>
          </a:p>
          <a:p>
            <a:pPr marL="1028700" lvl="1" algn="just">
              <a:buFont typeface="Arial"/>
              <a:buChar char="•"/>
            </a:pP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ViewModel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: business logic &amp; state handling</a:t>
            </a:r>
            <a:endParaRPr lang="en-US" dirty="0">
              <a:solidFill>
                <a:schemeClr val="tx2"/>
              </a:solidFill>
            </a:endParaRPr>
          </a:p>
          <a:p>
            <a:pPr marL="1028700" lvl="1" algn="just"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Repository: data access via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Supabase</a:t>
            </a:r>
            <a:endParaRPr lang="en-US" dirty="0" err="1">
              <a:solidFill>
                <a:schemeClr val="tx2"/>
              </a:solidFill>
            </a:endParaRPr>
          </a:p>
          <a:p>
            <a:pPr marL="1028700" lvl="1" algn="just">
              <a:buFont typeface="Arial"/>
              <a:buChar char="•"/>
            </a:pP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Reactive UI </a:t>
            </a:r>
            <a:r>
              <a:rPr lang="en-US" sz="1800" b="1" dirty="0" err="1">
                <a:solidFill>
                  <a:schemeClr val="tx2"/>
                </a:solidFill>
                <a:ea typeface="+mn-lt"/>
                <a:cs typeface="+mn-lt"/>
              </a:rPr>
              <a:t>Composables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: </a:t>
            </a:r>
            <a:r>
              <a:rPr lang="en-US" sz="1800" dirty="0" err="1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StateFlow</a:t>
            </a:r>
            <a:endParaRPr lang="en-US" dirty="0" err="1">
              <a:solidFill>
                <a:schemeClr val="tx2"/>
              </a:solidFill>
              <a:ea typeface="+mn-lt"/>
              <a:cs typeface="+mn-lt"/>
            </a:endParaRPr>
          </a:p>
          <a:p>
            <a:pPr lvl="1" indent="0" algn="just">
              <a:buNone/>
            </a:pP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🔐 </a:t>
            </a:r>
            <a:r>
              <a:rPr lang="en-US" sz="1800" b="1" dirty="0" err="1">
                <a:solidFill>
                  <a:schemeClr val="tx2"/>
                </a:solidFill>
                <a:ea typeface="+mn-lt"/>
                <a:cs typeface="+mn-lt"/>
              </a:rPr>
              <a:t>Supabase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 Integration</a:t>
            </a:r>
            <a:endParaRPr lang="en-US" dirty="0">
              <a:solidFill>
                <a:schemeClr val="tx2"/>
              </a:solidFill>
            </a:endParaRPr>
          </a:p>
          <a:p>
            <a:pPr lvl="1" indent="0" algn="just">
              <a:buNone/>
            </a:pPr>
            <a:endParaRPr lang="en-US" sz="1800" b="1">
              <a:solidFill>
                <a:schemeClr val="tx2"/>
              </a:solidFill>
              <a:ea typeface="+mn-lt"/>
              <a:cs typeface="+mn-lt"/>
            </a:endParaRPr>
          </a:p>
          <a:p>
            <a:pPr algn="just">
              <a:buFont typeface="Wingdings"/>
              <a:buChar char="§"/>
            </a:pP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Authentication via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Supabase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Auth</a:t>
            </a:r>
            <a:endParaRPr lang="en-US" dirty="0">
              <a:solidFill>
                <a:schemeClr val="tx2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Database operations via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supabase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-kt SDK</a:t>
            </a:r>
            <a:endParaRPr lang="en-US" dirty="0">
              <a:solidFill>
                <a:schemeClr val="tx2"/>
              </a:solidFill>
            </a:endParaRPr>
          </a:p>
          <a:p>
            <a:pPr algn="just">
              <a:buNone/>
            </a:pPr>
            <a:r>
              <a:rPr lang="en-US" sz="1800" b="0" dirty="0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supabase.from("clothingitem")
    .select { filter { eq("</a:t>
            </a:r>
            <a:r>
              <a:rPr lang="en-US" sz="1800" b="0" dirty="0" err="1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closet_id</a:t>
            </a:r>
            <a:r>
              <a:rPr lang="en-US" sz="1800" b="0" dirty="0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", id) } }
</a:t>
            </a:r>
            <a:endParaRPr lang="en-US" dirty="0">
              <a:solidFill>
                <a:schemeClr val="tx2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File upload to </a:t>
            </a:r>
            <a:r>
              <a:rPr lang="en-US" sz="1800" b="0" dirty="0" err="1">
                <a:solidFill>
                  <a:schemeClr val="tx2"/>
                </a:solidFill>
                <a:ea typeface="+mn-lt"/>
                <a:cs typeface="+mn-lt"/>
              </a:rPr>
              <a:t>Supabase</a:t>
            </a:r>
            <a:r>
              <a:rPr lang="en-US" sz="1800" b="0" dirty="0">
                <a:solidFill>
                  <a:schemeClr val="tx2"/>
                </a:solidFill>
                <a:ea typeface="+mn-lt"/>
                <a:cs typeface="+mn-lt"/>
              </a:rPr>
              <a:t> Storage (images)</a:t>
            </a:r>
            <a:endParaRPr lang="en-US" dirty="0">
              <a:solidFill>
                <a:schemeClr val="tx2"/>
              </a:solidFill>
            </a:endParaRPr>
          </a:p>
          <a:p>
            <a:pPr indent="0" algn="just">
              <a:buNone/>
            </a:pPr>
            <a:endParaRPr lang="en-US"/>
          </a:p>
          <a:p>
            <a:pPr algn="just">
              <a:buNone/>
            </a:pPr>
            <a:endParaRPr lang="en-US" sz="1800">
              <a:solidFill>
                <a:schemeClr val="tx2"/>
              </a:solidFill>
              <a:cs typeface="Arial"/>
            </a:endParaRPr>
          </a:p>
          <a:p>
            <a:pPr marL="0" indent="0" algn="just">
              <a:buNone/>
            </a:pPr>
            <a:endParaRPr lang="en-US" sz="1800">
              <a:solidFill>
                <a:schemeClr val="tx2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US" b="0">
              <a:solidFill>
                <a:srgbClr val="1F497D"/>
              </a:solidFill>
              <a:cs typeface="Arial"/>
            </a:endParaRPr>
          </a:p>
          <a:p>
            <a:pPr algn="just">
              <a:buNone/>
            </a:pPr>
            <a:endParaRPr lang="en-US" b="0">
              <a:solidFill>
                <a:srgbClr val="1F497D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GB" sz="1800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endParaRPr lang="en-GB" sz="1800" b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88019-5C12-CC6C-51BE-AD9F6CC0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12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DFDD40B-BA5D-DF60-24FB-68CD3B8F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23375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B708-8210-E795-427E-82BD9377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A6C3-B1F9-7D79-15EC-692DD74D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39" y="347048"/>
            <a:ext cx="8229599" cy="747713"/>
          </a:xfrm>
        </p:spPr>
        <p:txBody>
          <a:bodyPr lIns="91440" tIns="45720" rIns="91440" bIns="45720" anchor="t"/>
          <a:lstStyle/>
          <a:p>
            <a:r>
              <a:rPr lang="en-US" dirty="0">
                <a:cs typeface="Arial"/>
              </a:rPr>
              <a:t>Solution Implementation (4/12)</a:t>
            </a:r>
            <a:br>
              <a:rPr lang="en-US" dirty="0"/>
            </a:br>
            <a:r>
              <a:rPr lang="en-US" dirty="0"/>
              <a:t>Database and Backend</a:t>
            </a:r>
            <a:endParaRPr lang="en-US" b="0" dirty="0"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27C5-A15C-2638-25D6-0BB4F49D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A394F-783D-43F9-7DE5-88A6D494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13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E4E3C9-837B-3768-CAD2-C67CD471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B177FA52-DCE7-D349-50AB-FF1470E15C86}"/>
              </a:ext>
            </a:extLst>
          </p:cNvPr>
          <p:cNvSpPr/>
          <p:nvPr/>
        </p:nvSpPr>
        <p:spPr>
          <a:xfrm>
            <a:off x="136690" y="2854979"/>
            <a:ext cx="1612414" cy="1983968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64045-4D64-A272-4D25-6AB12883997F}"/>
              </a:ext>
            </a:extLst>
          </p:cNvPr>
          <p:cNvSpPr txBox="1"/>
          <p:nvPr/>
        </p:nvSpPr>
        <p:spPr>
          <a:xfrm>
            <a:off x="187588" y="3251425"/>
            <a:ext cx="149840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Calibri"/>
                <a:ea typeface="ＭＳ Ｐゴシック"/>
                <a:cs typeface="Calibri"/>
              </a:rPr>
              <a:t>6 tables:</a:t>
            </a:r>
            <a:endParaRPr lang="en-US" b="1" dirty="0">
              <a:cs typeface="Calibri" charset="0"/>
            </a:endParaRP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User</a:t>
            </a:r>
            <a:endParaRPr lang="en-US" sz="1200" dirty="0">
              <a:cs typeface="Calibri"/>
            </a:endParaRP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Closet</a:t>
            </a: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Clothing Item</a:t>
            </a:r>
            <a:endParaRPr lang="en-US" sz="1200" dirty="0">
              <a:cs typeface="Calibri"/>
            </a:endParaRP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Usage</a:t>
            </a:r>
            <a:endParaRPr lang="en-US" sz="1200" dirty="0">
              <a:cs typeface="Calibri"/>
            </a:endParaRPr>
          </a:p>
          <a:p>
            <a:pPr algn="ctr"/>
            <a:r>
              <a:rPr lang="en-US" sz="1200" err="1">
                <a:latin typeface="Calibri"/>
                <a:ea typeface="ＭＳ Ｐゴシック"/>
                <a:cs typeface="Calibri"/>
              </a:rPr>
              <a:t>OutfitRecommend</a:t>
            </a:r>
            <a:endParaRPr lang="en-US" sz="1200" err="1">
              <a:cs typeface="Calibri"/>
            </a:endParaRPr>
          </a:p>
          <a:p>
            <a:pPr algn="ctr"/>
            <a:r>
              <a:rPr lang="en-US" sz="1200" err="1">
                <a:latin typeface="Calibri"/>
                <a:ea typeface="ＭＳ Ｐゴシック"/>
                <a:cs typeface="Calibri"/>
              </a:rPr>
              <a:t>OutfitRecomItem</a:t>
            </a:r>
            <a:endParaRPr lang="en-US" sz="1200" err="1">
              <a:cs typeface="Calibri"/>
            </a:endParaRPr>
          </a:p>
          <a:p>
            <a:pPr algn="ctr"/>
            <a:endParaRPr lang="en-US">
              <a:cs typeface="Calibri"/>
            </a:endParaRPr>
          </a:p>
        </p:txBody>
      </p:sp>
      <p:pic>
        <p:nvPicPr>
          <p:cNvPr id="12" name="Graphic 11" descr="Eye outline">
            <a:extLst>
              <a:ext uri="{FF2B5EF4-FFF2-40B4-BE49-F238E27FC236}">
                <a16:creationId xmlns:a16="http://schemas.microsoft.com/office/drawing/2014/main" id="{68E9E006-290A-6F35-B5D5-CD77B155A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752" y="2581089"/>
            <a:ext cx="2085737" cy="20196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87C67C-939A-8168-07DA-2D9DBBA827EC}"/>
              </a:ext>
            </a:extLst>
          </p:cNvPr>
          <p:cNvSpPr txBox="1"/>
          <p:nvPr/>
        </p:nvSpPr>
        <p:spPr>
          <a:xfrm>
            <a:off x="2258279" y="4071378"/>
            <a:ext cx="14984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Calibri"/>
                <a:ea typeface="ＭＳ Ｐゴシック"/>
                <a:cs typeface="Calibri"/>
              </a:rPr>
              <a:t>2 views:</a:t>
            </a:r>
            <a:endParaRPr lang="en-US" sz="3200" b="1">
              <a:cs typeface="Calibri"/>
            </a:endParaRP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Forgotten items</a:t>
            </a:r>
            <a:endParaRPr lang="en-US" sz="1200" dirty="0">
              <a:cs typeface="Calibri"/>
            </a:endParaRPr>
          </a:p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Top 3 items Used</a:t>
            </a:r>
            <a:endParaRPr lang="en-US" sz="1200" dirty="0">
              <a:cs typeface="Calibri"/>
            </a:endParaRPr>
          </a:p>
          <a:p>
            <a:pPr algn="ctr"/>
            <a:endParaRPr lang="en-US">
              <a:cs typeface="Calibri"/>
            </a:endParaRPr>
          </a:p>
        </p:txBody>
      </p:sp>
      <p:pic>
        <p:nvPicPr>
          <p:cNvPr id="20" name="Picture 19" descr="One of the world's fastest-growing open source communities ...">
            <a:extLst>
              <a:ext uri="{FF2B5EF4-FFF2-40B4-BE49-F238E27FC236}">
                <a16:creationId xmlns:a16="http://schemas.microsoft.com/office/drawing/2014/main" id="{87693FB4-E067-3B58-B45D-298884888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01" y="1148245"/>
            <a:ext cx="1400353" cy="14255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1422B83-397F-D8C6-FF31-A8A99774C04D}"/>
              </a:ext>
            </a:extLst>
          </p:cNvPr>
          <p:cNvSpPr txBox="1"/>
          <p:nvPr/>
        </p:nvSpPr>
        <p:spPr>
          <a:xfrm>
            <a:off x="4524933" y="1099524"/>
            <a:ext cx="52559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Arial"/>
                <a:ea typeface="ＭＳ Ｐゴシック"/>
                <a:cs typeface="Arial"/>
              </a:rPr>
              <a:t>Relational database - </a:t>
            </a:r>
            <a:r>
              <a:rPr lang="en-US" sz="1800" b="1" dirty="0" err="1">
                <a:latin typeface="Arial"/>
                <a:ea typeface="ＭＳ Ｐゴシック"/>
                <a:cs typeface="Arial"/>
              </a:rPr>
              <a:t>Postgresql</a:t>
            </a:r>
            <a:r>
              <a:rPr lang="en-US" sz="1800" b="1" dirty="0">
                <a:latin typeface="Arial"/>
                <a:ea typeface="ＭＳ Ｐゴシック"/>
                <a:cs typeface="Arial"/>
              </a:rPr>
              <a:t> </a:t>
            </a:r>
            <a:endParaRPr lang="en-US" sz="1800" b="1" dirty="0">
              <a:ea typeface="Calibri"/>
              <a:cs typeface="Calibri"/>
            </a:endParaRPr>
          </a:p>
          <a:p>
            <a:r>
              <a:rPr lang="en-US" sz="1800" b="1" dirty="0">
                <a:latin typeface="Calibri"/>
                <a:ea typeface="Calibri"/>
                <a:cs typeface="Calibri"/>
              </a:rPr>
              <a:t>Structured schema</a:t>
            </a:r>
            <a:r>
              <a:rPr lang="en-US" sz="1800" dirty="0">
                <a:latin typeface="Calibri"/>
                <a:ea typeface="Calibri"/>
                <a:cs typeface="Calibri"/>
              </a:rPr>
              <a:t> and complex queries</a:t>
            </a:r>
            <a:endParaRPr lang="en-US" sz="1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Easier to model real-world logic:</a:t>
            </a:r>
            <a:endParaRPr lang="en-US" dirty="0"/>
          </a:p>
          <a:p>
            <a:r>
              <a:rPr lang="en-US" sz="1800" dirty="0">
                <a:latin typeface="Calibri"/>
                <a:ea typeface="Calibri"/>
                <a:cs typeface="Calibri"/>
              </a:rPr>
              <a:t>1 user → many closets → many items</a:t>
            </a:r>
            <a:endParaRPr lang="en-US" dirty="0"/>
          </a:p>
          <a:p>
            <a:endParaRPr lang="en-US" sz="1800">
              <a:latin typeface="Calibri"/>
              <a:ea typeface="Calibri"/>
              <a:cs typeface="Calibri"/>
            </a:endParaRPr>
          </a:p>
          <a:p>
            <a:r>
              <a:rPr lang="en-US" sz="1800" b="1" dirty="0">
                <a:latin typeface="Arial"/>
                <a:ea typeface="Calibri"/>
                <a:cs typeface="Arial"/>
              </a:rPr>
              <a:t>Backend-as-service - </a:t>
            </a:r>
            <a:r>
              <a:rPr lang="en-US" sz="1800" b="1" err="1">
                <a:latin typeface="Arial"/>
                <a:ea typeface="Calibri"/>
                <a:cs typeface="Arial"/>
              </a:rPr>
              <a:t>Supabase</a:t>
            </a:r>
            <a:endParaRPr lang="en-US" sz="1800" b="1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Open-source, based on PostgreSQL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Authentication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Database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Storage - Buckets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Webhooks and Triggers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Calibri"/>
                <a:ea typeface="Calibri"/>
                <a:cs typeface="Calibri"/>
              </a:rPr>
              <a:t>Direct Kotlin support with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supabase</a:t>
            </a:r>
            <a:r>
              <a:rPr lang="en-US" sz="1800" dirty="0">
                <a:latin typeface="Calibri"/>
                <a:ea typeface="Calibri"/>
                <a:cs typeface="Calibri"/>
              </a:rPr>
              <a:t>-kt SDK</a:t>
            </a:r>
            <a:endParaRPr lang="en-US" dirty="0"/>
          </a:p>
          <a:p>
            <a:endParaRPr lang="en-US" sz="1800">
              <a:ea typeface="Calibri"/>
              <a:cs typeface="Calibri"/>
            </a:endParaRPr>
          </a:p>
          <a:p>
            <a:endParaRPr lang="en-US" sz="1800">
              <a:latin typeface="Arial"/>
              <a:cs typeface="Arial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BA3901-7FE9-AB62-3488-B58E79AF1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7" y="4934080"/>
            <a:ext cx="9144000" cy="1429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F6C419-EA9A-72AD-C9B9-7D25C3E599A9}"/>
              </a:ext>
            </a:extLst>
          </p:cNvPr>
          <p:cNvSpPr/>
          <p:nvPr/>
        </p:nvSpPr>
        <p:spPr>
          <a:xfrm>
            <a:off x="2060421" y="2850954"/>
            <a:ext cx="1820744" cy="1991942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0" descr="Download PostgreSQL Logo in SVG Vector or PNG File Format ...">
            <a:extLst>
              <a:ext uri="{FF2B5EF4-FFF2-40B4-BE49-F238E27FC236}">
                <a16:creationId xmlns:a16="http://schemas.microsoft.com/office/drawing/2014/main" id="{E7F08BA9-6850-C2E3-A3F5-AC30BEFBE1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512" y="1578275"/>
            <a:ext cx="2083592" cy="142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25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7723-1C5D-B4C7-E8AD-A1A9FBC8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0BD4-6D28-70B9-7E6B-A4020E00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463" y="848813"/>
            <a:ext cx="3295062" cy="495951"/>
          </a:xfrm>
        </p:spPr>
        <p:txBody>
          <a:bodyPr lIns="91440" tIns="45720" rIns="91440" bIns="45720" anchor="t"/>
          <a:lstStyle/>
          <a:p>
            <a:r>
              <a:rPr lang="en-US" dirty="0" err="1"/>
              <a:t>SmartCloset</a:t>
            </a:r>
            <a:r>
              <a:rPr lang="en-US" dirty="0"/>
              <a:t>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C1B8-E09F-9516-93CD-69C000975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536" y="1039840"/>
            <a:ext cx="8229600" cy="5242079"/>
          </a:xfrm>
        </p:spPr>
        <p:txBody>
          <a:bodyPr/>
          <a:lstStyle/>
          <a:p>
            <a:pPr marL="0" indent="0" algn="just">
              <a:buNone/>
            </a:pPr>
            <a:endParaRPr lang="en-US" sz="1800">
              <a:solidFill>
                <a:schemeClr val="tx2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US" b="0">
              <a:solidFill>
                <a:srgbClr val="1F497D"/>
              </a:solidFill>
              <a:cs typeface="Arial"/>
            </a:endParaRPr>
          </a:p>
          <a:p>
            <a:pPr algn="just">
              <a:buNone/>
            </a:pPr>
            <a:endParaRPr lang="en-US" b="0">
              <a:solidFill>
                <a:srgbClr val="1F497D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endParaRPr lang="en-GB" sz="1800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endParaRPr lang="en-GB" sz="1800" b="0">
              <a:solidFill>
                <a:schemeClr val="tx1"/>
              </a:solidFill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5BDD-103C-7FCB-A38A-382B2487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16880-2852-9CD5-8631-4BF8AADD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14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3B4E01-998F-9215-E375-C3335032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  <p:pic>
        <p:nvPicPr>
          <p:cNvPr id="4" name="Picture 3" descr="Uvicorn">
            <a:extLst>
              <a:ext uri="{FF2B5EF4-FFF2-40B4-BE49-F238E27FC236}">
                <a16:creationId xmlns:a16="http://schemas.microsoft.com/office/drawing/2014/main" id="{BC8C384A-F6B7-A621-7123-FD3EF756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01" y="1037260"/>
            <a:ext cx="1560927" cy="1570997"/>
          </a:xfrm>
          <a:prstGeom prst="rect">
            <a:avLst/>
          </a:prstGeom>
        </p:spPr>
      </p:pic>
      <p:pic>
        <p:nvPicPr>
          <p:cNvPr id="8" name="Picture 7" descr="Ngrok logo - Social media &amp; Logos Icons">
            <a:extLst>
              <a:ext uri="{FF2B5EF4-FFF2-40B4-BE49-F238E27FC236}">
                <a16:creationId xmlns:a16="http://schemas.microsoft.com/office/drawing/2014/main" id="{51D24A6B-CCA9-CB95-B28B-C2D2A15FC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793" y="1040952"/>
            <a:ext cx="2036924" cy="2036924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8B0E6969-2833-F6EF-A1E9-4343084173D7}"/>
              </a:ext>
            </a:extLst>
          </p:cNvPr>
          <p:cNvSpPr/>
          <p:nvPr/>
        </p:nvSpPr>
        <p:spPr>
          <a:xfrm rot="3180000">
            <a:off x="3234213" y="1050674"/>
            <a:ext cx="303365" cy="1532284"/>
          </a:xfrm>
          <a:prstGeom prst="downArrow">
            <a:avLst/>
          </a:prstGeom>
          <a:solidFill>
            <a:srgbClr val="FFC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7891E89-4BE5-A263-E494-0485162ADB95}"/>
              </a:ext>
            </a:extLst>
          </p:cNvPr>
          <p:cNvSpPr/>
          <p:nvPr/>
        </p:nvSpPr>
        <p:spPr>
          <a:xfrm rot="18180000">
            <a:off x="4513222" y="968089"/>
            <a:ext cx="313435" cy="1723623"/>
          </a:xfrm>
          <a:prstGeom prst="downArrow">
            <a:avLst/>
          </a:prstGeom>
          <a:solidFill>
            <a:srgbClr val="FFC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614C4-9B63-A552-6F72-3316DE5AFB62}"/>
              </a:ext>
            </a:extLst>
          </p:cNvPr>
          <p:cNvSpPr txBox="1"/>
          <p:nvPr/>
        </p:nvSpPr>
        <p:spPr>
          <a:xfrm>
            <a:off x="221856" y="2608140"/>
            <a:ext cx="274320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805"/>
              </a:lnSpc>
            </a:pPr>
            <a:r>
              <a:rPr lang="en-US" sz="1800" b="1" dirty="0">
                <a:latin typeface="Arial"/>
                <a:ea typeface="ＭＳ Ｐゴシック"/>
              </a:rPr>
              <a:t>Serves the backend locally</a:t>
            </a:r>
            <a:r>
              <a:rPr lang="en-US" sz="1800" dirty="0">
                <a:latin typeface="Arial"/>
                <a:ea typeface="ＭＳ Ｐゴシック"/>
              </a:rPr>
              <a:t>​</a:t>
            </a:r>
            <a:endParaRPr lang="en-US" sz="1800" dirty="0">
              <a:latin typeface="Arial"/>
              <a:ea typeface="ＭＳ Ｐゴシック"/>
              <a:cs typeface="Arial"/>
            </a:endParaRP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US" sz="1800" dirty="0">
                <a:latin typeface="Arial"/>
                <a:ea typeface="ＭＳ Ｐゴシック"/>
                <a:cs typeface="Arial"/>
              </a:rPr>
              <a:t>Rapid development &amp; testing  (</a:t>
            </a:r>
            <a:r>
              <a:rPr lang="en-US" sz="1800" err="1">
                <a:latin typeface="Arial"/>
                <a:ea typeface="ＭＳ Ｐゴシック"/>
                <a:cs typeface="Arial"/>
              </a:rPr>
              <a:t>FastAPI</a:t>
            </a:r>
            <a:r>
              <a:rPr lang="en-US" sz="1800" dirty="0">
                <a:latin typeface="Arial"/>
                <a:ea typeface="ＭＳ Ｐゴシック"/>
                <a:cs typeface="Arial"/>
              </a:rPr>
              <a:t>)​</a:t>
            </a:r>
          </a:p>
          <a:p>
            <a:pPr marL="228600" indent="-228600" algn="just">
              <a:lnSpc>
                <a:spcPts val="1805"/>
              </a:lnSpc>
              <a:buFont typeface="Wingdings,Sans-Serif"/>
              <a:buChar char="§"/>
            </a:pPr>
            <a:r>
              <a:rPr lang="en-US" sz="1800" dirty="0">
                <a:latin typeface="Arial"/>
                <a:ea typeface="ＭＳ Ｐゴシック"/>
                <a:cs typeface="Arial"/>
              </a:rPr>
              <a:t>Avoids premature cloud deployment​</a:t>
            </a: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4DC9D4-F8DB-92C4-BA03-79075F3F71C0}"/>
              </a:ext>
            </a:extLst>
          </p:cNvPr>
          <p:cNvSpPr txBox="1"/>
          <p:nvPr/>
        </p:nvSpPr>
        <p:spPr>
          <a:xfrm>
            <a:off x="5810712" y="2482602"/>
            <a:ext cx="274320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518"/>
              </a:lnSpc>
            </a:pPr>
            <a:r>
              <a:rPr lang="en-US" sz="1800" b="1" dirty="0">
                <a:latin typeface="Arial"/>
                <a:ea typeface="ＭＳ Ｐゴシック"/>
                <a:cs typeface="Arial"/>
              </a:rPr>
              <a:t>exposes localhost to the Internet via a secure tunnel​</a:t>
            </a:r>
            <a:endParaRPr lang="en-US" b="1"/>
          </a:p>
          <a:p>
            <a:pPr marL="228600" indent="-228600" algn="just">
              <a:lnSpc>
                <a:spcPts val="1518"/>
              </a:lnSpc>
              <a:buFont typeface="Wingdings,Sans-Serif"/>
              <a:buChar char="§"/>
            </a:pPr>
            <a:r>
              <a:rPr lang="en-US" sz="1800" dirty="0">
                <a:latin typeface="Arial"/>
                <a:ea typeface="ＭＳ Ｐゴシック"/>
                <a:cs typeface="Arial"/>
              </a:rPr>
              <a:t>Makes local development instantly accessible to </a:t>
            </a:r>
            <a:r>
              <a:rPr lang="en-US" sz="1800" err="1">
                <a:latin typeface="Arial"/>
                <a:ea typeface="ＭＳ Ｐゴシック"/>
                <a:cs typeface="Arial"/>
              </a:rPr>
              <a:t>Supabase</a:t>
            </a:r>
            <a:r>
              <a:rPr lang="en-US" sz="1800" dirty="0">
                <a:latin typeface="Arial"/>
                <a:ea typeface="ＭＳ Ｐゴシック"/>
                <a:cs typeface="Arial"/>
              </a:rPr>
              <a:t> &amp; mobile app​</a:t>
            </a:r>
          </a:p>
          <a:p>
            <a:pPr marL="228600" indent="-228600" algn="just">
              <a:buFont typeface="Wingdings,Sans-Serif"/>
              <a:buChar char="§"/>
            </a:pPr>
            <a:endParaRPr lang="en-US">
              <a:latin typeface="Arial"/>
              <a:cs typeface="Arial"/>
            </a:endParaRP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F39A9E-57DA-AB77-328F-B90332340865}"/>
              </a:ext>
            </a:extLst>
          </p:cNvPr>
          <p:cNvSpPr txBox="1"/>
          <p:nvPr/>
        </p:nvSpPr>
        <p:spPr>
          <a:xfrm>
            <a:off x="2280718" y="5171579"/>
            <a:ext cx="2743200" cy="14234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lnSpc>
                <a:spcPts val="1518"/>
              </a:lnSpc>
              <a:buFont typeface="Wingdings,Sans-Serif"/>
              <a:buChar char="§"/>
            </a:pPr>
            <a:r>
              <a:rPr lang="en-US" sz="1800" dirty="0">
                <a:latin typeface="Arial"/>
                <a:ea typeface="ＭＳ Ｐゴシック"/>
                <a:cs typeface="Arial"/>
              </a:rPr>
              <a:t>Auto-generated documentation with </a:t>
            </a:r>
            <a:r>
              <a:rPr lang="en-US" sz="1800" b="1" dirty="0">
                <a:latin typeface="Arial"/>
                <a:ea typeface="ＭＳ Ｐゴシック"/>
                <a:cs typeface="Arial"/>
              </a:rPr>
              <a:t>OpenAPI</a:t>
            </a:r>
            <a:r>
              <a:rPr lang="en-US" sz="1800" dirty="0">
                <a:latin typeface="Arial"/>
                <a:ea typeface="ＭＳ Ｐゴシック"/>
                <a:cs typeface="Arial"/>
              </a:rPr>
              <a:t> ​</a:t>
            </a:r>
          </a:p>
          <a:p>
            <a:pPr marL="228600" indent="-228600" algn="just">
              <a:lnSpc>
                <a:spcPts val="1518"/>
              </a:lnSpc>
              <a:buFont typeface="Wingdings,Sans-Serif"/>
              <a:buChar char="§"/>
            </a:pPr>
            <a:r>
              <a:rPr lang="en-US" sz="1800" dirty="0">
                <a:latin typeface="Arial"/>
                <a:ea typeface="ＭＳ Ｐゴシック"/>
                <a:cs typeface="Arial"/>
              </a:rPr>
              <a:t>Lightweight syntax, rapid prototyping</a:t>
            </a:r>
          </a:p>
          <a:p>
            <a:endParaRPr lang="en-US"/>
          </a:p>
        </p:txBody>
      </p:sp>
      <p:pic>
        <p:nvPicPr>
          <p:cNvPr id="16" name="Picture 15" descr="GitHub - mjhea0/awesome-fastapi: A curated list of awesome ...">
            <a:extLst>
              <a:ext uri="{FF2B5EF4-FFF2-40B4-BE49-F238E27FC236}">
                <a16:creationId xmlns:a16="http://schemas.microsoft.com/office/drawing/2014/main" id="{906BB105-F254-BE09-18C3-59D400C9F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48" y="5240680"/>
            <a:ext cx="2038267" cy="103927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7326BF0-8680-762A-AFA5-07D3E31250CB}"/>
              </a:ext>
            </a:extLst>
          </p:cNvPr>
          <p:cNvSpPr/>
          <p:nvPr/>
        </p:nvSpPr>
        <p:spPr>
          <a:xfrm>
            <a:off x="1270404" y="4221609"/>
            <a:ext cx="333576" cy="917984"/>
          </a:xfrm>
          <a:prstGeom prst="downArrow">
            <a:avLst/>
          </a:prstGeom>
          <a:solidFill>
            <a:srgbClr val="FFC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D2DFADD-BB09-71E7-B9F9-9114F03E91D6}"/>
              </a:ext>
            </a:extLst>
          </p:cNvPr>
          <p:cNvSpPr/>
          <p:nvPr/>
        </p:nvSpPr>
        <p:spPr>
          <a:xfrm>
            <a:off x="7262342" y="4221608"/>
            <a:ext cx="333576" cy="917984"/>
          </a:xfrm>
          <a:prstGeom prst="downArrow">
            <a:avLst/>
          </a:prstGeom>
          <a:solidFill>
            <a:srgbClr val="FFC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One of the world's fastest-growing open source communities ...">
            <a:extLst>
              <a:ext uri="{FF2B5EF4-FFF2-40B4-BE49-F238E27FC236}">
                <a16:creationId xmlns:a16="http://schemas.microsoft.com/office/drawing/2014/main" id="{4F4474BB-BE57-F5C4-6166-672AB4991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539" y="4284170"/>
            <a:ext cx="1178803" cy="1133467"/>
          </a:xfrm>
          <a:prstGeom prst="rect">
            <a:avLst/>
          </a:prstGeom>
        </p:spPr>
      </p:pic>
      <p:pic>
        <p:nvPicPr>
          <p:cNvPr id="21" name="Picture 20" descr="Kotlin Logo PNG (1)">
            <a:extLst>
              <a:ext uri="{FF2B5EF4-FFF2-40B4-BE49-F238E27FC236}">
                <a16:creationId xmlns:a16="http://schemas.microsoft.com/office/drawing/2014/main" id="{23608B0D-D682-631D-E380-970C07700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757" y="5591944"/>
            <a:ext cx="2743199" cy="6086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B65400-A5EF-B689-F66C-9910E4AD90A6}"/>
              </a:ext>
            </a:extLst>
          </p:cNvPr>
          <p:cNvSpPr txBox="1"/>
          <p:nvPr/>
        </p:nvSpPr>
        <p:spPr>
          <a:xfrm>
            <a:off x="339306" y="382438"/>
            <a:ext cx="468414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</a:rPr>
              <a:t>Solution Implementation (5/12)</a:t>
            </a:r>
            <a:r>
              <a:rPr lang="en-US" dirty="0">
                <a:latin typeface="Arial"/>
                <a:ea typeface="ＭＳ Ｐゴシック"/>
                <a:cs typeface="Arial"/>
              </a:rPr>
              <a:t>​</a:t>
            </a:r>
            <a:endParaRPr 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53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AC99-7F78-5740-78F7-FCE46D7B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958D-F4AB-6AA4-2F10-502B6F83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057"/>
            <a:ext cx="8229599" cy="747713"/>
          </a:xfrm>
        </p:spPr>
        <p:txBody>
          <a:bodyPr lIns="91440" tIns="45720" rIns="91440" bIns="45720" anchor="t"/>
          <a:lstStyle/>
          <a:p>
            <a:br>
              <a:rPr lang="en-US" dirty="0"/>
            </a:br>
            <a:r>
              <a:rPr lang="en-US" dirty="0">
                <a:cs typeface="Arial"/>
              </a:rPr>
              <a:t>Solution Implementation (6/12)</a:t>
            </a:r>
            <a:endParaRPr lang="en-US" b="0" dirty="0">
              <a:cs typeface="Arial"/>
            </a:endParaRPr>
          </a:p>
          <a:p>
            <a:r>
              <a:rPr lang="en-US" dirty="0"/>
              <a:t>IOT Automation – Arduino Uno</a:t>
            </a:r>
            <a:br>
              <a:rPr lang="en-US" dirty="0"/>
            </a:b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31D08-1BDF-27E5-E58A-1C434AA7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/>
              <a:t>Smart Closet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171F-E0FB-CCE3-7A73-45751A62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15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3E9337-B610-D084-6D9B-13D391B7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  <p:pic>
        <p:nvPicPr>
          <p:cNvPr id="9" name="Picture 8" descr="A diagram of a led strip&#10;&#10;AI-generated content may be incorrect.">
            <a:extLst>
              <a:ext uri="{FF2B5EF4-FFF2-40B4-BE49-F238E27FC236}">
                <a16:creationId xmlns:a16="http://schemas.microsoft.com/office/drawing/2014/main" id="{6940A34A-9A19-03BB-F04C-EA0E07ABC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855" y="1376880"/>
            <a:ext cx="4107225" cy="4096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225CA03-9C9D-DAFF-696B-B8B4E14D6595}"/>
              </a:ext>
            </a:extLst>
          </p:cNvPr>
          <p:cNvSpPr/>
          <p:nvPr/>
        </p:nvSpPr>
        <p:spPr>
          <a:xfrm>
            <a:off x="459214" y="1259818"/>
            <a:ext cx="2022153" cy="2142999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CC27C-09C1-41E7-BD7C-80397C87AF7D}"/>
              </a:ext>
            </a:extLst>
          </p:cNvPr>
          <p:cNvSpPr/>
          <p:nvPr/>
        </p:nvSpPr>
        <p:spPr>
          <a:xfrm>
            <a:off x="2795566" y="1259817"/>
            <a:ext cx="2022153" cy="2142999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96BB06-49FA-D0DE-52FC-90299989948A}"/>
              </a:ext>
            </a:extLst>
          </p:cNvPr>
          <p:cNvSpPr/>
          <p:nvPr/>
        </p:nvSpPr>
        <p:spPr>
          <a:xfrm>
            <a:off x="469282" y="3706945"/>
            <a:ext cx="4400755" cy="2455182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5D0095-3731-9E84-1458-ABF9BC9BAB22}"/>
              </a:ext>
            </a:extLst>
          </p:cNvPr>
          <p:cNvSpPr txBox="1"/>
          <p:nvPr/>
        </p:nvSpPr>
        <p:spPr>
          <a:xfrm>
            <a:off x="5393703" y="5569880"/>
            <a:ext cx="39135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ＭＳ Ｐゴシック"/>
                <a:cs typeface="Calibri"/>
              </a:rPr>
              <a:t>RGB red strip circuit with the </a:t>
            </a:r>
            <a:r>
              <a:rPr lang="en-US" sz="1400" err="1">
                <a:latin typeface="Calibri"/>
                <a:ea typeface="ＭＳ Ｐゴシック"/>
                <a:cs typeface="Calibri"/>
              </a:rPr>
              <a:t>arduino</a:t>
            </a:r>
            <a:r>
              <a:rPr lang="en-US" sz="1400" dirty="0">
                <a:latin typeface="Calibri"/>
                <a:ea typeface="ＭＳ Ｐゴシック"/>
                <a:cs typeface="Calibri"/>
              </a:rPr>
              <a:t> uno board</a:t>
            </a:r>
            <a:endParaRPr lang="en-US" sz="1400" dirty="0"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252141-6FF2-BAA3-A3C5-70BE4C8A8A38}"/>
              </a:ext>
            </a:extLst>
          </p:cNvPr>
          <p:cNvSpPr txBox="1"/>
          <p:nvPr/>
        </p:nvSpPr>
        <p:spPr>
          <a:xfrm>
            <a:off x="471298" y="1266867"/>
            <a:ext cx="20080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>
                <a:latin typeface="Arial"/>
                <a:cs typeface="Arial"/>
              </a:rPr>
              <a:t>HC-SR04</a:t>
            </a:r>
            <a:r>
              <a:rPr lang="en-GB" sz="1800">
                <a:latin typeface="Arial"/>
                <a:cs typeface="Arial"/>
              </a:rPr>
              <a:t> ultrasonic sensor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29A91D-67F4-A0C2-092E-0DDD3B4EBA5B}"/>
              </a:ext>
            </a:extLst>
          </p:cNvPr>
          <p:cNvSpPr txBox="1"/>
          <p:nvPr/>
        </p:nvSpPr>
        <p:spPr>
          <a:xfrm>
            <a:off x="2797581" y="126686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>
                <a:latin typeface="Arial"/>
                <a:cs typeface="Arial"/>
              </a:rPr>
              <a:t>HC-05 Bluetooth module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AE3D4-4F1E-C0FB-2DDE-36B5125BB017}"/>
              </a:ext>
            </a:extLst>
          </p:cNvPr>
          <p:cNvSpPr txBox="1"/>
          <p:nvPr/>
        </p:nvSpPr>
        <p:spPr>
          <a:xfrm>
            <a:off x="471299" y="3834840"/>
            <a:ext cx="4455182" cy="6540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518"/>
              </a:lnSpc>
            </a:pPr>
            <a:r>
              <a:rPr lang="en-GB" sz="1800" b="1" dirty="0">
                <a:latin typeface="Arial"/>
                <a:ea typeface="ＭＳ Ｐゴシック"/>
                <a:cs typeface="Arial"/>
              </a:rPr>
              <a:t>RGB LED strip (12V)</a:t>
            </a:r>
            <a:endParaRPr lang="en-GB" sz="1800" dirty="0">
              <a:latin typeface="Arial"/>
              <a:ea typeface="ＭＳ Ｐゴシック"/>
              <a:cs typeface="Arial"/>
            </a:endParaRPr>
          </a:p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3B2F8-6335-C4F9-245E-7489FAABBD75}"/>
              </a:ext>
            </a:extLst>
          </p:cNvPr>
          <p:cNvSpPr txBox="1"/>
          <p:nvPr/>
        </p:nvSpPr>
        <p:spPr>
          <a:xfrm>
            <a:off x="461228" y="2173211"/>
            <a:ext cx="18267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805"/>
              </a:lnSpc>
            </a:pPr>
            <a:r>
              <a:rPr lang="en-GB" sz="1800" dirty="0">
                <a:latin typeface="Arial"/>
                <a:ea typeface="ＭＳ Ｐゴシック"/>
                <a:cs typeface="Arial"/>
              </a:rPr>
              <a:t>Keeps track of door position  (critical distance 50 cm )</a:t>
            </a:r>
            <a:endParaRPr lang="en-GB" sz="18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01FAB7-A931-1EED-15AA-A7393124F4F4}"/>
              </a:ext>
            </a:extLst>
          </p:cNvPr>
          <p:cNvSpPr txBox="1"/>
          <p:nvPr/>
        </p:nvSpPr>
        <p:spPr>
          <a:xfrm>
            <a:off x="2878145" y="2062435"/>
            <a:ext cx="1695870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805"/>
              </a:lnSpc>
            </a:pPr>
            <a:r>
              <a:rPr lang="en-GB" sz="1800" dirty="0">
                <a:latin typeface="Arial"/>
                <a:ea typeface="ＭＳ Ｐゴシック"/>
                <a:cs typeface="Arial"/>
              </a:rPr>
              <a:t>Send ALERT trigger to mobile app for the camera​ to launch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25C03D-80BF-2CAE-291A-6F01074EE6DD}"/>
              </a:ext>
            </a:extLst>
          </p:cNvPr>
          <p:cNvSpPr txBox="1"/>
          <p:nvPr/>
        </p:nvSpPr>
        <p:spPr>
          <a:xfrm>
            <a:off x="471299" y="4257801"/>
            <a:ext cx="2743200" cy="786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805"/>
              </a:lnSpc>
            </a:pPr>
            <a:r>
              <a:rPr lang="en-GB" sz="1800" dirty="0">
                <a:latin typeface="Arial"/>
                <a:ea typeface="ＭＳ Ｐゴシック"/>
                <a:cs typeface="Arial"/>
              </a:rPr>
              <a:t>lights up when door opens​ for better vision and aesthetic purposes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39DD5-235F-A424-6D89-DC53FA5B73A6}"/>
              </a:ext>
            </a:extLst>
          </p:cNvPr>
          <p:cNvSpPr txBox="1"/>
          <p:nvPr/>
        </p:nvSpPr>
        <p:spPr>
          <a:xfrm>
            <a:off x="461229" y="5204428"/>
            <a:ext cx="39415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dirty="0">
                <a:latin typeface="Arial"/>
                <a:ea typeface="ＭＳ Ｐゴシック"/>
                <a:cs typeface="Arial"/>
              </a:rPr>
              <a:t>3 × IRF540N N-channel MOSFETs</a:t>
            </a:r>
            <a:r>
              <a:rPr lang="en-GB" sz="1800" dirty="0">
                <a:latin typeface="Arial"/>
                <a:ea typeface="ＭＳ Ｐゴシック"/>
                <a:cs typeface="Arial"/>
              </a:rPr>
              <a:t> </a:t>
            </a:r>
            <a:endParaRPr lang="en-US" dirty="0">
              <a:ea typeface="ＭＳ Ｐゴシック"/>
              <a:cs typeface="Calibri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620164-6FAF-3F2E-C31C-6E0748DAFBCE}"/>
              </a:ext>
            </a:extLst>
          </p:cNvPr>
          <p:cNvSpPr txBox="1"/>
          <p:nvPr/>
        </p:nvSpPr>
        <p:spPr>
          <a:xfrm>
            <a:off x="461228" y="5466258"/>
            <a:ext cx="44652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/>
                <a:ea typeface="ＭＳ Ｐゴシック"/>
                <a:cs typeface="Calibri"/>
              </a:rPr>
              <a:t>classic open-drain circuit used to control a  LED strip (12V)  using Arduino Uno (</a:t>
            </a:r>
            <a:r>
              <a:rPr lang="en-US" sz="1400" dirty="0">
                <a:latin typeface="Calibri"/>
                <a:ea typeface="ＭＳ Ｐゴシック"/>
                <a:cs typeface="Calibri"/>
              </a:rPr>
              <a:t>5V </a:t>
            </a:r>
            <a:r>
              <a:rPr lang="en-US" sz="1800" dirty="0">
                <a:latin typeface="Calibri"/>
                <a:ea typeface="ＭＳ Ｐゴシック"/>
                <a:cs typeface="Calibri"/>
              </a:rPr>
              <a:t>logic)</a:t>
            </a:r>
          </a:p>
        </p:txBody>
      </p:sp>
    </p:spTree>
    <p:extLst>
      <p:ext uri="{BB962C8B-B14F-4D97-AF65-F5344CB8AC3E}">
        <p14:creationId xmlns:p14="http://schemas.microsoft.com/office/powerpoint/2010/main" val="1718938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C050-F97E-F3C1-0904-44BB8FDB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87AFE-F901-91B8-EB56-824A6CD6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55C66-843E-C784-EF12-52C63F2C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16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4114152-8E3C-3268-AF8C-38D2BA16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A42AB-1B63-CD87-E8F0-A06F8DCE8F5E}"/>
              </a:ext>
            </a:extLst>
          </p:cNvPr>
          <p:cNvSpPr txBox="1"/>
          <p:nvPr/>
        </p:nvSpPr>
        <p:spPr>
          <a:xfrm>
            <a:off x="203886" y="82303"/>
            <a:ext cx="567396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Calibri"/>
              <a:ea typeface="ＭＳ Ｐゴシック"/>
              <a:cs typeface="Calibri"/>
            </a:endParaRPr>
          </a:p>
          <a:p>
            <a:r>
              <a:rPr lang="en-US" b="1" dirty="0">
                <a:latin typeface="Arial"/>
                <a:ea typeface="ＭＳ Ｐゴシック"/>
                <a:cs typeface="Arial"/>
              </a:rPr>
              <a:t>Solution Implementation (7/12)</a:t>
            </a:r>
            <a:endParaRPr lang="en-US" dirty="0">
              <a:latin typeface="Arial"/>
              <a:ea typeface="ＭＳ Ｐゴシック"/>
              <a:cs typeface="Arial"/>
            </a:endParaRPr>
          </a:p>
          <a:p>
            <a:r>
              <a:rPr lang="en-US" b="1" dirty="0">
                <a:latin typeface="Calibri"/>
                <a:ea typeface="ＭＳ Ｐゴシック"/>
                <a:cs typeface="Calibri"/>
              </a:rPr>
              <a:t>Data Flow Diagrams</a:t>
            </a:r>
            <a:endParaRPr lang="en-US" b="1" dirty="0">
              <a:cs typeface="Calibri"/>
            </a:endParaRPr>
          </a:p>
        </p:txBody>
      </p:sp>
      <p:pic>
        <p:nvPicPr>
          <p:cNvPr id="8" name="Picture 7" descr="A diagram of a product&#10;&#10;AI-generated content may be incorrect.">
            <a:extLst>
              <a:ext uri="{FF2B5EF4-FFF2-40B4-BE49-F238E27FC236}">
                <a16:creationId xmlns:a16="http://schemas.microsoft.com/office/drawing/2014/main" id="{D8516858-72F3-9523-423B-C61E6089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" y="1186984"/>
            <a:ext cx="8204888" cy="280351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diagram of clothing items&#10;&#10;AI-generated content may be incorrect.">
            <a:extLst>
              <a:ext uri="{FF2B5EF4-FFF2-40B4-BE49-F238E27FC236}">
                <a16:creationId xmlns:a16="http://schemas.microsoft.com/office/drawing/2014/main" id="{1AE0CA81-8027-3C1C-8DBE-0F7EECA42D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19"/>
          <a:stretch/>
        </p:blipFill>
        <p:spPr>
          <a:xfrm>
            <a:off x="345988" y="3924736"/>
            <a:ext cx="7760044" cy="25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21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5913-20D0-0E2B-4855-7341BDDD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E7CC5-1C6C-0E17-22DE-1DFD2B3A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B8E73-A349-B09A-535A-CEF381B4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17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5F4E524-1E68-B0AA-C443-16D9653C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D1A39683-A612-0139-CBA9-366AE54A3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254" y="1718189"/>
            <a:ext cx="9294254" cy="3016433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5767A3-B207-1DBC-C87A-217C031A7057}"/>
              </a:ext>
            </a:extLst>
          </p:cNvPr>
          <p:cNvSpPr txBox="1"/>
          <p:nvPr/>
        </p:nvSpPr>
        <p:spPr>
          <a:xfrm>
            <a:off x="117622" y="470492"/>
            <a:ext cx="55312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  <a:cs typeface="Arial"/>
              </a:rPr>
              <a:t>Solution Implementation (8/12)</a:t>
            </a:r>
            <a:endParaRPr lang="en-US" dirty="0">
              <a:latin typeface="Arial"/>
              <a:ea typeface="ＭＳ Ｐゴシック"/>
              <a:cs typeface="Arial"/>
            </a:endParaRPr>
          </a:p>
          <a:p>
            <a:r>
              <a:rPr lang="en-US" b="1" dirty="0">
                <a:latin typeface="Calibri"/>
                <a:ea typeface="ＭＳ Ｐゴシック"/>
                <a:cs typeface="Calibri"/>
              </a:rPr>
              <a:t>Data Flow Diagrams</a:t>
            </a:r>
            <a:endParaRPr lang="en-US" b="1" dirty="0">
              <a:cs typeface="Calibri"/>
            </a:endParaRPr>
          </a:p>
        </p:txBody>
      </p:sp>
      <p:pic>
        <p:nvPicPr>
          <p:cNvPr id="2" name="Picture 1" descr="A drawing of clothes on a rack&#10;&#10;AI-generated content may be incorrect.">
            <a:extLst>
              <a:ext uri="{FF2B5EF4-FFF2-40B4-BE49-F238E27FC236}">
                <a16:creationId xmlns:a16="http://schemas.microsoft.com/office/drawing/2014/main" id="{725A033C-547E-F849-1CD1-52BEF9D3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30" r="7914" b="-373"/>
          <a:stretch>
            <a:fillRect/>
          </a:stretch>
        </p:blipFill>
        <p:spPr>
          <a:xfrm>
            <a:off x="6592239" y="3307589"/>
            <a:ext cx="2387097" cy="30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99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8C0A-2C08-5519-E82E-7427E1BC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E1F5-A224-3253-90F2-CF836D673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(9/12)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9802-B826-7CB4-DD11-A8B51C7C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7C76E-1EB5-3779-2981-EE6F4C0B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18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CDAE6C8-B0E1-2D02-5D1A-FF712CC1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746D4A-FCE8-5662-5F34-BAC6F2900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8538"/>
            <a:ext cx="8229600" cy="3559928"/>
          </a:xfrm>
        </p:spPr>
        <p:txBody>
          <a:bodyPr/>
          <a:lstStyle/>
          <a:p>
            <a:pPr>
              <a:buNone/>
            </a:pPr>
            <a:r>
              <a:rPr lang="en-US">
                <a:cs typeface="Arial"/>
              </a:rPr>
              <a:t>AI Subsystem Modules: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D956C42-38F7-BD03-913A-303A372A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334562"/>
              </p:ext>
            </p:extLst>
          </p:nvPr>
        </p:nvGraphicFramePr>
        <p:xfrm>
          <a:off x="538438" y="2012057"/>
          <a:ext cx="8200182" cy="3317421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2733394">
                  <a:extLst>
                    <a:ext uri="{9D8B030D-6E8A-4147-A177-3AD203B41FA5}">
                      <a16:colId xmlns:a16="http://schemas.microsoft.com/office/drawing/2014/main" val="3892219068"/>
                    </a:ext>
                  </a:extLst>
                </a:gridCol>
                <a:gridCol w="2733394">
                  <a:extLst>
                    <a:ext uri="{9D8B030D-6E8A-4147-A177-3AD203B41FA5}">
                      <a16:colId xmlns:a16="http://schemas.microsoft.com/office/drawing/2014/main" val="2837528261"/>
                    </a:ext>
                  </a:extLst>
                </a:gridCol>
                <a:gridCol w="2733394">
                  <a:extLst>
                    <a:ext uri="{9D8B030D-6E8A-4147-A177-3AD203B41FA5}">
                      <a16:colId xmlns:a16="http://schemas.microsoft.com/office/drawing/2014/main" val="2635719383"/>
                    </a:ext>
                  </a:extLst>
                </a:gridCol>
              </a:tblGrid>
              <a:tr h="461446">
                <a:tc>
                  <a:txBody>
                    <a:bodyPr/>
                    <a:lstStyle/>
                    <a:p>
                      <a:r>
                        <a:rPr lang="en-US" sz="1600" b="1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Key Libraries/Tools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46206"/>
                  </a:ext>
                </a:extLst>
              </a:tr>
              <a:tr h="685933">
                <a:tc>
                  <a:txBody>
                    <a:bodyPr/>
                    <a:lstStyle/>
                    <a:p>
                      <a:r>
                        <a:rPr lang="en-US" sz="1400"/>
                        <a:t>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Image processing and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OpenCV, scikit-image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281147"/>
                  </a:ext>
                </a:extLst>
              </a:tr>
              <a:tr h="399088">
                <a:tc>
                  <a:txBody>
                    <a:bodyPr/>
                    <a:lstStyle/>
                    <a:p>
                      <a:r>
                        <a:rPr lang="en-US" sz="1400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Metadata handling and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77195"/>
                  </a:ext>
                </a:extLst>
              </a:tr>
              <a:tr h="399088">
                <a:tc>
                  <a:txBody>
                    <a:bodyPr/>
                    <a:lstStyle/>
                    <a:p>
                      <a:r>
                        <a:rPr lang="en-US" sz="1400"/>
                        <a:t>Background Removal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Precise garment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rembg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792409"/>
                  </a:ext>
                </a:extLst>
              </a:tr>
              <a:tr h="685933">
                <a:tc>
                  <a:txBody>
                    <a:bodyPr/>
                    <a:lstStyle/>
                    <a:p>
                      <a:r>
                        <a:rPr lang="en-US" sz="1400"/>
                        <a:t>Object Detection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Clothing detection and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ultralytics</a:t>
                      </a:r>
                      <a:r>
                        <a:rPr lang="en-US" sz="1400"/>
                        <a:t> (YOLOv8), 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705849"/>
                  </a:ext>
                </a:extLst>
              </a:tr>
              <a:tr h="685933">
                <a:tc>
                  <a:txBody>
                    <a:bodyPr/>
                    <a:lstStyle/>
                    <a:p>
                      <a:r>
                        <a:rPr lang="en-US" sz="1400"/>
                        <a:t>Color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Dominant color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OpenCV, </a:t>
                      </a:r>
                      <a:r>
                        <a:rPr lang="en-US" sz="1400" err="1"/>
                        <a:t>numpy</a:t>
                      </a:r>
                      <a:r>
                        <a:rPr lang="en-US" sz="1400"/>
                        <a:t>, scikit-learn (</a:t>
                      </a:r>
                      <a:r>
                        <a:rPr lang="en-US" sz="1400" err="1"/>
                        <a:t>KMeans</a:t>
                      </a:r>
                      <a:r>
                        <a:rPr lang="en-US" sz="1400"/>
                        <a:t>), matplotlib,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8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64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6B589-A95F-D379-FD8B-D1E77240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A721-A4C5-3199-3F01-68739076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(10/12)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E6D83-BB54-8AFE-D1FF-A4417508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5620E-91C1-762A-CA65-6A108149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19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E077DF4-DE96-C796-3EAB-6F34508673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A88537-777E-11F5-EB21-38C2EBA89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26" y="1264789"/>
            <a:ext cx="8230314" cy="3888154"/>
          </a:xfrm>
        </p:spPr>
        <p:txBody>
          <a:bodyPr/>
          <a:lstStyle/>
          <a:p>
            <a:r>
              <a:rPr lang="en-US"/>
              <a:t>YOLOv8 Object Detection Model – Implementation</a:t>
            </a:r>
          </a:p>
          <a:p>
            <a:pPr lvl="1">
              <a:buFont typeface="Wingdings" charset="2"/>
              <a:buChar char="§"/>
            </a:pPr>
            <a:r>
              <a:rPr lang="en-US" sz="1800" b="1">
                <a:solidFill>
                  <a:srgbClr val="0A1C72"/>
                </a:solidFill>
                <a:ea typeface="+mn-lt"/>
                <a:cs typeface="+mn-lt"/>
              </a:rPr>
              <a:t>Model Overview</a:t>
            </a:r>
            <a:endParaRPr lang="en-US" sz="1800" b="1">
              <a:solidFill>
                <a:srgbClr val="0A1C72"/>
              </a:solidFill>
            </a:endParaRPr>
          </a:p>
          <a:p>
            <a:pPr lvl="2">
              <a:buClr>
                <a:srgbClr val="000000"/>
              </a:buClr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Architecture: YOLOv8x (extra-large version for complex tasks)</a:t>
            </a:r>
            <a:endParaRPr lang="en-US" sz="1600" b="0"/>
          </a:p>
          <a:p>
            <a:pPr lvl="2">
              <a:buClr>
                <a:srgbClr val="000000"/>
              </a:buClr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Goal: Real-time fashion object detection &amp; classification</a:t>
            </a:r>
          </a:p>
          <a:p>
            <a:pPr lvl="1">
              <a:buFont typeface="Wingdings" charset="2"/>
              <a:buChar char="§"/>
            </a:pPr>
            <a:r>
              <a:rPr lang="en-US" sz="1800" b="1">
                <a:solidFill>
                  <a:srgbClr val="0A1C72"/>
                </a:solidFill>
                <a:ea typeface="+mn-lt"/>
                <a:cs typeface="+mn-lt"/>
              </a:rPr>
              <a:t>Dataset</a:t>
            </a:r>
            <a:endParaRPr lang="en-US" sz="1800" b="1">
              <a:solidFill>
                <a:srgbClr val="0A1C72"/>
              </a:solidFill>
            </a:endParaRPr>
          </a:p>
          <a:p>
            <a:pPr lvl="2"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Source: </a:t>
            </a:r>
            <a:r>
              <a:rPr lang="en-US" sz="1600" b="0" err="1">
                <a:ea typeface="+mn-lt"/>
                <a:cs typeface="+mn-lt"/>
              </a:rPr>
              <a:t>Roboflow</a:t>
            </a:r>
            <a:r>
              <a:rPr lang="en-US" sz="1600" b="0">
                <a:ea typeface="+mn-lt"/>
                <a:cs typeface="+mn-lt"/>
              </a:rPr>
              <a:t> - Main-Fashion v5</a:t>
            </a:r>
            <a:endParaRPr lang="en-US" sz="1600" b="0"/>
          </a:p>
          <a:p>
            <a:pPr lvl="2"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Structure: </a:t>
            </a:r>
            <a:r>
              <a:rPr lang="en-US" sz="1600" b="0">
                <a:latin typeface="Arial"/>
                <a:ea typeface="+mn-lt"/>
                <a:cs typeface="+mn-lt"/>
              </a:rPr>
              <a:t>train/</a:t>
            </a:r>
            <a:r>
              <a:rPr lang="en-US" sz="1600" b="0">
                <a:ea typeface="+mn-lt"/>
                <a:cs typeface="+mn-lt"/>
              </a:rPr>
              <a:t>, </a:t>
            </a:r>
            <a:r>
              <a:rPr lang="en-US" sz="1600" b="0">
                <a:latin typeface="Arial"/>
                <a:ea typeface="+mn-lt"/>
                <a:cs typeface="+mn-lt"/>
              </a:rPr>
              <a:t>valid/</a:t>
            </a:r>
            <a:r>
              <a:rPr lang="en-US" sz="1600" b="0">
                <a:ea typeface="+mn-lt"/>
                <a:cs typeface="+mn-lt"/>
              </a:rPr>
              <a:t>, </a:t>
            </a:r>
            <a:r>
              <a:rPr lang="en-US" sz="1600" b="0">
                <a:latin typeface="Arial"/>
                <a:ea typeface="+mn-lt"/>
                <a:cs typeface="+mn-lt"/>
              </a:rPr>
              <a:t>test/</a:t>
            </a:r>
            <a:r>
              <a:rPr lang="en-US" sz="1600" b="0">
                <a:ea typeface="+mn-lt"/>
                <a:cs typeface="+mn-lt"/>
              </a:rPr>
              <a:t> folders + </a:t>
            </a:r>
            <a:r>
              <a:rPr lang="en-US" sz="1600" b="0" err="1">
                <a:latin typeface="Arial"/>
                <a:ea typeface="+mn-lt"/>
                <a:cs typeface="+mn-lt"/>
              </a:rPr>
              <a:t>data.yaml</a:t>
            </a:r>
            <a:r>
              <a:rPr lang="en-US" sz="1600" b="0">
                <a:ea typeface="+mn-lt"/>
                <a:cs typeface="+mn-lt"/>
              </a:rPr>
              <a:t> (includes 8 class labels pants, shirt, dress, </a:t>
            </a:r>
            <a:r>
              <a:rPr lang="en-US" sz="1600" b="0" err="1">
                <a:ea typeface="+mn-lt"/>
                <a:cs typeface="+mn-lt"/>
              </a:rPr>
              <a:t>Tshirt</a:t>
            </a:r>
            <a:r>
              <a:rPr lang="en-US" sz="1600" b="0">
                <a:ea typeface="+mn-lt"/>
                <a:cs typeface="+mn-lt"/>
              </a:rPr>
              <a:t>, jacket, short, skirt, and sweater)</a:t>
            </a:r>
          </a:p>
          <a:p>
            <a:pPr lvl="1">
              <a:buFont typeface="Wingdings" charset="2"/>
              <a:buChar char="§"/>
            </a:pPr>
            <a:r>
              <a:rPr lang="en-US" sz="1800" b="1">
                <a:solidFill>
                  <a:srgbClr val="0A1C72"/>
                </a:solidFill>
                <a:ea typeface="+mn-lt"/>
                <a:cs typeface="+mn-lt"/>
              </a:rPr>
              <a:t>Model Training</a:t>
            </a:r>
            <a:endParaRPr lang="en-US" sz="1800" b="1">
              <a:solidFill>
                <a:srgbClr val="0A1C72"/>
              </a:solidFill>
            </a:endParaRPr>
          </a:p>
          <a:p>
            <a:pPr lvl="2">
              <a:buClr>
                <a:srgbClr val="000000"/>
              </a:buClr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Epochs: 30, Image Size: 640x640, Batch Size: 16</a:t>
            </a:r>
            <a:endParaRPr lang="en-US" sz="1600" b="0"/>
          </a:p>
          <a:p>
            <a:pPr lvl="2">
              <a:buClr>
                <a:srgbClr val="000000"/>
              </a:buClr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Optimizer: </a:t>
            </a:r>
            <a:r>
              <a:rPr lang="en-US" sz="1600" b="0" err="1">
                <a:ea typeface="+mn-lt"/>
                <a:cs typeface="+mn-lt"/>
              </a:rPr>
              <a:t>AdamW</a:t>
            </a:r>
            <a:r>
              <a:rPr lang="en-US" sz="1600" b="0">
                <a:ea typeface="+mn-lt"/>
                <a:cs typeface="+mn-lt"/>
              </a:rPr>
              <a:t> (auto-selected)</a:t>
            </a:r>
          </a:p>
          <a:p>
            <a:pPr lvl="2">
              <a:buClr>
                <a:srgbClr val="000000"/>
              </a:buClr>
              <a:buFont typeface="Arial"/>
              <a:buChar char="•"/>
            </a:pPr>
            <a:r>
              <a:rPr lang="en-US" sz="1600" b="0">
                <a:ea typeface="+mn-lt"/>
                <a:cs typeface="+mn-lt"/>
              </a:rPr>
              <a:t>Features: Mixed Precision, Automatic learning rate/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800" b="0">
                <a:ea typeface="+mn-lt"/>
                <a:cs typeface="+mn-lt"/>
              </a:rPr>
              <a:t>momentum tuning</a:t>
            </a:r>
            <a:endParaRPr lang="en-US" sz="1800" b="0"/>
          </a:p>
          <a:p>
            <a:pPr lvl="1">
              <a:buFont typeface="Arial" charset="0"/>
              <a:buChar char="§"/>
            </a:pPr>
            <a:endParaRPr lang="en-US" sz="1600" b="0">
              <a:cs typeface="Arial"/>
            </a:endParaRPr>
          </a:p>
          <a:p>
            <a:pPr>
              <a:buNone/>
            </a:pPr>
            <a:endParaRPr lang="en-US" sz="2000">
              <a:cs typeface="Arial"/>
            </a:endParaRPr>
          </a:p>
        </p:txBody>
      </p:sp>
      <p:pic>
        <p:nvPicPr>
          <p:cNvPr id="13" name="Picture 12" descr="A rack of clothes with different colors&#10;&#10;AI-generated content may be incorrect.">
            <a:extLst>
              <a:ext uri="{FF2B5EF4-FFF2-40B4-BE49-F238E27FC236}">
                <a16:creationId xmlns:a16="http://schemas.microsoft.com/office/drawing/2014/main" id="{08552412-D198-66BA-24CC-97F5EC9C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03246" y="4684704"/>
            <a:ext cx="939434" cy="17451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5012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069E-B3CC-8740-01EF-983ADF24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CFA1-5FDC-6D43-E4F8-1F309114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(11/12)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BC9A-C430-0221-45D0-14A0D023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6BCC-E8FE-B53E-48C0-44104139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20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5C5D54F-46EB-0A91-C2E4-210562F3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793F62-A591-4D32-FE64-E8EED91F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8498"/>
            <a:ext cx="8229600" cy="4551787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Image Preprocessing Pipeline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Segmentation:</a:t>
            </a:r>
            <a:r>
              <a:rPr lang="en-US" sz="1600" b="0">
                <a:ea typeface="+mn-lt"/>
                <a:cs typeface="+mn-lt"/>
              </a:rPr>
              <a:t> Multi-stage garment isolation</a:t>
            </a:r>
            <a:endParaRPr lang="en-US" sz="1600" b="1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Background Removal:</a:t>
            </a:r>
            <a:r>
              <a:rPr lang="en-US" sz="1600" b="0">
                <a:ea typeface="+mn-lt"/>
                <a:cs typeface="+mn-lt"/>
              </a:rPr>
              <a:t> </a:t>
            </a:r>
            <a:r>
              <a:rPr lang="en-US" sz="1600" b="0" err="1">
                <a:latin typeface="Arial"/>
                <a:ea typeface="+mn-lt"/>
                <a:cs typeface="+mn-lt"/>
              </a:rPr>
              <a:t>rembg</a:t>
            </a:r>
            <a:r>
              <a:rPr lang="en-US" sz="1600" b="0">
                <a:ea typeface="+mn-lt"/>
                <a:cs typeface="+mn-lt"/>
              </a:rPr>
              <a:t> (U²-Net) for precise cutout</a:t>
            </a:r>
            <a:endParaRPr lang="en-US" sz="1600" b="1"/>
          </a:p>
          <a:p>
            <a:pPr lvl="1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Cropping:</a:t>
            </a:r>
            <a:r>
              <a:rPr lang="en-US" sz="1600" b="0">
                <a:ea typeface="+mn-lt"/>
                <a:cs typeface="+mn-lt"/>
              </a:rPr>
              <a:t> Adaptive bounding box with padding</a:t>
            </a:r>
            <a:endParaRPr lang="en-US" sz="1600" b="1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Resizing:</a:t>
            </a:r>
            <a:r>
              <a:rPr lang="en-US" sz="1600" b="0">
                <a:ea typeface="+mn-lt"/>
                <a:cs typeface="+mn-lt"/>
              </a:rPr>
              <a:t> Lanczos interpolation for dimension standardization</a:t>
            </a:r>
            <a:endParaRPr lang="en-US" sz="1600" b="1"/>
          </a:p>
          <a:p>
            <a:pPr lvl="1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Centering:</a:t>
            </a:r>
            <a:r>
              <a:rPr lang="en-US" sz="1600" b="0">
                <a:ea typeface="+mn-lt"/>
                <a:cs typeface="+mn-lt"/>
              </a:rPr>
              <a:t> Object placed on transparent canvas</a:t>
            </a:r>
            <a:endParaRPr lang="en-US" sz="1600" b="0">
              <a:cs typeface="Arial"/>
            </a:endParaRPr>
          </a:p>
          <a:p>
            <a:pPr marL="457200" lvl="1" indent="0">
              <a:buNone/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Color Classification Module</a:t>
            </a:r>
            <a:endParaRPr lang="en-US" b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Convert image (</a:t>
            </a:r>
            <a:r>
              <a:rPr lang="en-US" sz="1600" b="0">
                <a:ea typeface="+mn-lt"/>
                <a:cs typeface="+mn-lt"/>
              </a:rPr>
              <a:t>BGR → RGB</a:t>
            </a:r>
            <a:r>
              <a:rPr lang="en-US" sz="1600">
                <a:ea typeface="+mn-lt"/>
                <a:cs typeface="+mn-lt"/>
              </a:rPr>
              <a:t>)</a:t>
            </a: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Segment clothing using </a:t>
            </a:r>
            <a:r>
              <a:rPr lang="en-US" sz="1600" b="0" err="1">
                <a:ea typeface="+mn-lt"/>
                <a:cs typeface="+mn-lt"/>
              </a:rPr>
              <a:t>GrabCut</a:t>
            </a:r>
            <a:r>
              <a:rPr lang="en-US" sz="1600">
                <a:ea typeface="+mn-lt"/>
                <a:cs typeface="+mn-lt"/>
              </a:rPr>
              <a:t> algorithm</a:t>
            </a:r>
            <a:endParaRPr lang="en-US" sz="1600" b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Extract dominant colors via </a:t>
            </a:r>
            <a:r>
              <a:rPr lang="en-US" sz="1600" b="0">
                <a:ea typeface="+mn-lt"/>
                <a:cs typeface="+mn-lt"/>
              </a:rPr>
              <a:t>K-Means</a:t>
            </a: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Convert RGB → </a:t>
            </a:r>
            <a:r>
              <a:rPr lang="en-US" sz="1600" b="0">
                <a:ea typeface="+mn-lt"/>
                <a:cs typeface="+mn-lt"/>
              </a:rPr>
              <a:t>HEX</a:t>
            </a: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Match to nearest dataset color using </a:t>
            </a:r>
            <a:r>
              <a:rPr lang="en-US" sz="1600" b="0">
                <a:ea typeface="+mn-lt"/>
                <a:cs typeface="+mn-lt"/>
              </a:rPr>
              <a:t>Euclidean distance</a:t>
            </a:r>
          </a:p>
          <a:p>
            <a:pPr>
              <a:buNone/>
            </a:pPr>
            <a:endParaRPr lang="en-US" sz="2000">
              <a:cs typeface="Arial"/>
            </a:endParaRPr>
          </a:p>
        </p:txBody>
      </p:sp>
      <p:pic>
        <p:nvPicPr>
          <p:cNvPr id="13" name="Picture 12" descr="A group of swingers with a white background&#10;&#10;AI-generated content may be incorrect.">
            <a:extLst>
              <a:ext uri="{FF2B5EF4-FFF2-40B4-BE49-F238E27FC236}">
                <a16:creationId xmlns:a16="http://schemas.microsoft.com/office/drawing/2014/main" id="{242D3893-6859-5543-BE1F-366425AD5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7288119" y="1436037"/>
            <a:ext cx="1588008" cy="8749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8746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0752-EAC6-D897-2E00-2BD52A1D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8DC2-6DD9-E672-2EC5-0907BE07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Solution Implementation (12/12)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EA768-2DB8-C8CE-5669-EE7B72D4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94A9-A9B4-C9C9-C29D-CA236353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21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AEA186-A619-9955-4FA3-D62CC12E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2E5DF5-67FA-F042-E23A-2E9A57420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7896"/>
            <a:ext cx="8229600" cy="4211721"/>
          </a:xfrm>
        </p:spPr>
        <p:txBody>
          <a:bodyPr/>
          <a:lstStyle/>
          <a:p>
            <a:r>
              <a:rPr lang="en-US"/>
              <a:t>Visual Similarity 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lvl="1">
              <a:buFont typeface="Arial" charset="2"/>
              <a:buChar char="•"/>
            </a:pPr>
            <a:r>
              <a:rPr lang="en-US" sz="1600">
                <a:ea typeface="+mn-lt"/>
                <a:cs typeface="+mn-lt"/>
              </a:rPr>
              <a:t>Feature Extraction:</a:t>
            </a:r>
            <a:r>
              <a:rPr lang="en-US" sz="1600" b="0">
                <a:ea typeface="+mn-lt"/>
                <a:cs typeface="+mn-lt"/>
              </a:rPr>
              <a:t> ORB algorithm for </a:t>
            </a:r>
            <a:r>
              <a:rPr lang="en-US" sz="1600">
                <a:ea typeface="+mn-lt"/>
                <a:cs typeface="+mn-lt"/>
              </a:rPr>
              <a:t>key points</a:t>
            </a:r>
            <a:r>
              <a:rPr lang="en-US" sz="1600" b="0">
                <a:ea typeface="+mn-lt"/>
                <a:cs typeface="+mn-lt"/>
              </a:rPr>
              <a:t> &amp; binary descriptors (efficient, robust)</a:t>
            </a:r>
            <a:endParaRPr lang="en-US" sz="16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Feature Matching:</a:t>
            </a:r>
            <a:r>
              <a:rPr lang="en-US" sz="1600" b="0">
                <a:ea typeface="+mn-lt"/>
                <a:cs typeface="+mn-lt"/>
              </a:rPr>
              <a:t> Brute-force matcher + Hamming distance, threshold filtering</a:t>
            </a:r>
            <a:endParaRPr lang="en-US" sz="1600"/>
          </a:p>
          <a:p>
            <a:pPr lvl="1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Similarity Scoring:</a:t>
            </a:r>
            <a:r>
              <a:rPr lang="en-US" sz="1600" b="0">
                <a:ea typeface="+mn-lt"/>
                <a:cs typeface="+mn-lt"/>
              </a:rPr>
              <a:t> Ratio of strong matches / total </a:t>
            </a:r>
            <a:r>
              <a:rPr lang="en-US" sz="1600">
                <a:ea typeface="+mn-lt"/>
                <a:cs typeface="+mn-lt"/>
              </a:rPr>
              <a:t>key points</a:t>
            </a:r>
            <a:r>
              <a:rPr lang="en-US" sz="1600" b="0">
                <a:ea typeface="+mn-lt"/>
                <a:cs typeface="+mn-lt"/>
              </a:rPr>
              <a:t> -&gt;interpretable percentage</a:t>
            </a:r>
            <a:endParaRPr lang="en-US" sz="1600"/>
          </a:p>
          <a:p>
            <a:pPr marL="0" indent="0">
              <a:buNone/>
            </a:pPr>
            <a:endParaRPr lang="en-US" sz="1800" b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Recommendation Engine:</a:t>
            </a:r>
          </a:p>
          <a:p>
            <a:pPr lvl="1">
              <a:buFont typeface="Arial" charset="2"/>
              <a:buChar char="•"/>
            </a:pPr>
            <a:r>
              <a:rPr lang="en-US" sz="1600" b="0">
                <a:ea typeface="+mn-lt"/>
                <a:cs typeface="+mn-lt"/>
              </a:rPr>
              <a:t>Metadata filtering (season, occasion)</a:t>
            </a:r>
          </a:p>
          <a:p>
            <a:pPr lvl="1">
              <a:buFont typeface="Arial" charset="2"/>
              <a:buChar char="•"/>
            </a:pPr>
            <a:r>
              <a:rPr lang="en-US" sz="1600" b="0">
                <a:ea typeface="+mn-lt"/>
                <a:cs typeface="+mn-lt"/>
              </a:rPr>
              <a:t>Color harmony via predefined compatibility matrix (</a:t>
            </a:r>
            <a:r>
              <a:rPr lang="en-US" sz="1600">
                <a:ea typeface="+mn-lt"/>
                <a:cs typeface="+mn-lt"/>
              </a:rPr>
              <a:t>for example,</a:t>
            </a:r>
            <a:r>
              <a:rPr lang="en-US" sz="1600" b="0">
                <a:ea typeface="+mn-lt"/>
                <a:cs typeface="+mn-lt"/>
              </a:rPr>
              <a:t> red with black/white)</a:t>
            </a:r>
            <a:endParaRPr lang="en-US" sz="1600" b="0"/>
          </a:p>
          <a:p>
            <a:pPr>
              <a:buNone/>
            </a:pPr>
            <a:endParaRPr lang="en-US" sz="1600" b="0">
              <a:solidFill>
                <a:schemeClr val="tx1"/>
              </a:solidFill>
              <a:cs typeface="Arial"/>
            </a:endParaRPr>
          </a:p>
        </p:txBody>
      </p:sp>
      <p:pic>
        <p:nvPicPr>
          <p:cNvPr id="4" name="Picture 3" descr="A pink shirt and blue pants&#10;&#10;AI-generated content may be incorrect.">
            <a:extLst>
              <a:ext uri="{FF2B5EF4-FFF2-40B4-BE49-F238E27FC236}">
                <a16:creationId xmlns:a16="http://schemas.microsoft.com/office/drawing/2014/main" id="{237ABECA-09EE-D781-7D5F-9C6A7896D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34" t="12247" r="896" b="11571"/>
          <a:stretch>
            <a:fillRect/>
          </a:stretch>
        </p:blipFill>
        <p:spPr>
          <a:xfrm>
            <a:off x="7786664" y="5288710"/>
            <a:ext cx="1355971" cy="12032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6907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1E7A-BB62-F747-D2AF-D7148FFB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F0F65-2BB8-11B3-A398-74E9A6D3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B4E6A-53D7-7A8C-23C4-D46AEB2BD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2236"/>
            <a:ext cx="8229600" cy="476762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YOLOv8 – Validation Results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Metrics</a:t>
            </a:r>
            <a:endParaRPr lang="mr-IN" sz="2000"/>
          </a:p>
          <a:p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Precision: 0.752</a:t>
            </a:r>
            <a:endParaRPr lang="mr-IN" sz="1800" b="0">
              <a:solidFill>
                <a:schemeClr val="tx1"/>
              </a:solidFill>
            </a:endParaRPr>
          </a:p>
          <a:p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Recall: 0.775</a:t>
            </a:r>
            <a:endParaRPr lang="mr-IN" sz="1800" b="0">
              <a:solidFill>
                <a:schemeClr val="tx1"/>
              </a:solidFill>
            </a:endParaRPr>
          </a:p>
          <a:p>
            <a:r>
              <a:rPr lang="en-US" sz="1800" b="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mAP@0.5:0.95</a:t>
            </a: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 = 0.841</a:t>
            </a:r>
            <a:endParaRPr lang="mr-IN" sz="1800" b="0">
              <a:solidFill>
                <a:schemeClr val="tx1"/>
              </a:solidFill>
            </a:endParaRPr>
          </a:p>
          <a:p>
            <a:endParaRPr lang="en-US">
              <a:cs typeface="Arial"/>
            </a:endParaRPr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E54C7-40FB-2081-763B-92E9A8D4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34039-072A-3AA9-2AF5-9963EA96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CDBB11F-65E9-8C76-9E65-7A23C072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8A2DC3E-055C-D0A4-5363-B0F883019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5554"/>
            <a:ext cx="9144000" cy="277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34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B193-C3ED-6F22-D8EE-ECD606B7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296F-6D91-0863-7067-43BA6B42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Testing, Evaluation and Iterative improvements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5BB6D-6EA2-C7CF-C862-94FCCD66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02" y="1881255"/>
            <a:ext cx="8229600" cy="4767626"/>
          </a:xfrm>
        </p:spPr>
        <p:txBody>
          <a:bodyPr/>
          <a:lstStyle/>
          <a:p>
            <a:pPr marL="0" indent="0" algn="just">
              <a:buNone/>
            </a:pPr>
            <a:r>
              <a:rPr lang="en-US"/>
              <a:t>Testing method 1: Iterative Improvements</a:t>
            </a:r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8A9E-509A-626A-1DBA-9F050312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B817D-F183-1444-3DE1-D1457B10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CBAB50-6070-E8D6-CBC9-D8B2FB3708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/>
              <a:t>MDP23-xx</a:t>
            </a:r>
            <a:endParaRPr lang="fr-FR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C2C591-20D8-7E7D-3D75-DE8FA81A7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834600"/>
              </p:ext>
            </p:extLst>
          </p:nvPr>
        </p:nvGraphicFramePr>
        <p:xfrm>
          <a:off x="540870" y="2414743"/>
          <a:ext cx="8263351" cy="203454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16683">
                  <a:extLst>
                    <a:ext uri="{9D8B030D-6E8A-4147-A177-3AD203B41FA5}">
                      <a16:colId xmlns:a16="http://schemas.microsoft.com/office/drawing/2014/main" val="3683468137"/>
                    </a:ext>
                  </a:extLst>
                </a:gridCol>
                <a:gridCol w="7446668">
                  <a:extLst>
                    <a:ext uri="{9D8B030D-6E8A-4147-A177-3AD203B41FA5}">
                      <a16:colId xmlns:a16="http://schemas.microsoft.com/office/drawing/2014/main" val="1997522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Version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fr-FR" dirty="0" err="1">
                          <a:solidFill>
                            <a:srgbClr val="000000"/>
                          </a:solidFill>
                          <a:effectLst/>
                        </a:rPr>
                        <a:t>Improvement</a:t>
                      </a:r>
                      <a:r>
                        <a:rPr lang="fr-FR" dirty="0">
                          <a:solidFill>
                            <a:srgbClr val="000000"/>
                          </a:solidFill>
                          <a:effectLst/>
                        </a:rPr>
                        <a:t> Description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9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v1.0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GB" dirty="0">
                          <a:effectLst/>
                        </a:rPr>
                        <a:t>Initial test with basic dataset and background running camera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84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v1.1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GB" dirty="0">
                          <a:effectLst/>
                        </a:rPr>
                        <a:t>Implemented Ultrasonic sensor and Changed camera </a:t>
                      </a:r>
                      <a:r>
                        <a:rPr lang="en-GB" dirty="0" err="1">
                          <a:effectLst/>
                        </a:rPr>
                        <a:t>behavior</a:t>
                      </a:r>
                      <a:r>
                        <a:rPr lang="en-GB" dirty="0">
                          <a:effectLst/>
                        </a:rPr>
                        <a:t> to require manual capture 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319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V1.2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GB" dirty="0">
                          <a:effectLst/>
                        </a:rPr>
                        <a:t>Modified the “Alert” Arduino behaviour on the door opening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25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v1.3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GB" dirty="0">
                          <a:effectLst/>
                        </a:rPr>
                        <a:t>Replaced AI training dataset with larger, more diverse set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275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effectLst/>
                        </a:rPr>
                        <a:t>v1.4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GB" dirty="0">
                          <a:effectLst/>
                        </a:rPr>
                        <a:t>Planned: Personalized model based on user preferences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37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528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013E-311E-0061-48C6-E56E3E78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4FBA-0139-ED02-14E0-75B3A0AA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Testing, Evaluation and Iterative improvements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8E4F-E9A3-C09A-2AA8-20947A544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72" y="1189178"/>
            <a:ext cx="8229600" cy="4767626"/>
          </a:xfrm>
        </p:spPr>
        <p:txBody>
          <a:bodyPr/>
          <a:lstStyle/>
          <a:p>
            <a:pPr marL="0" indent="0" algn="just">
              <a:buNone/>
            </a:pPr>
            <a:r>
              <a:rPr lang="en-US"/>
              <a:t>Testing method 2: Post-Testing Survey</a:t>
            </a:r>
          </a:p>
          <a:p>
            <a:pPr marL="0" indent="0" algn="just">
              <a:buNone/>
            </a:pPr>
            <a:endParaRPr lang="en-US"/>
          </a:p>
          <a:p>
            <a:pPr marL="0" indent="0" algn="just">
              <a:buNone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2D66-9D1B-AD26-52D4-57446A96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7A12-7B23-37DE-2F39-074B2190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2A9EFDF-558F-BFC6-C540-C1D4BD69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4548C-6E39-1FA8-93AA-E6C9BF986521}"/>
              </a:ext>
            </a:extLst>
          </p:cNvPr>
          <p:cNvSpPr txBox="1"/>
          <p:nvPr/>
        </p:nvSpPr>
        <p:spPr>
          <a:xfrm>
            <a:off x="604028" y="1567815"/>
            <a:ext cx="8077909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/>
                <a:ea typeface="ＭＳ Ｐゴシック"/>
                <a:cs typeface="Calibri"/>
              </a:rPr>
              <a:t>8 testers ( 2 Professors at ESIB and 6 students) have tried-out the </a:t>
            </a:r>
            <a:r>
              <a:rPr lang="en-US" sz="1800" err="1">
                <a:latin typeface="Arial"/>
                <a:ea typeface="ＭＳ Ｐゴシック"/>
                <a:cs typeface="Calibri"/>
              </a:rPr>
              <a:t>SmartCloset</a:t>
            </a:r>
            <a:r>
              <a:rPr lang="en-US" sz="1800">
                <a:latin typeface="Arial"/>
                <a:ea typeface="ＭＳ Ｐゴシック"/>
                <a:cs typeface="Calibri"/>
              </a:rPr>
              <a:t> App, then they filled a short survey anonymously, here are some suggestion for our project:</a:t>
            </a:r>
          </a:p>
          <a:p>
            <a:pPr marL="285750" indent="-285750">
              <a:buFont typeface="Arial"/>
              <a:buChar char="•"/>
            </a:pPr>
            <a:r>
              <a:rPr lang="en-GB" sz="1800">
                <a:latin typeface="Arial"/>
                <a:ea typeface="Calibri"/>
                <a:cs typeface="Calibri"/>
              </a:rPr>
              <a:t>Desire to browse friends’ closets for inspiration</a:t>
            </a:r>
            <a:endParaRPr lang="en-US" sz="1800">
              <a:latin typeface="Arial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800">
                <a:latin typeface="Arial"/>
                <a:ea typeface="Calibri"/>
                <a:cs typeface="Calibri"/>
              </a:rPr>
              <a:t>Automatic “check-out” of worn items</a:t>
            </a:r>
            <a:endParaRPr lang="en-US" sz="1800">
              <a:latin typeface="Arial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" sz="1800" err="1">
                <a:latin typeface="Arial"/>
                <a:ea typeface="Calibri"/>
                <a:cs typeface="Calibri"/>
              </a:rPr>
              <a:t>Add</a:t>
            </a:r>
            <a:r>
              <a:rPr lang="fr" sz="1800">
                <a:latin typeface="Arial"/>
                <a:ea typeface="Calibri"/>
                <a:cs typeface="Calibri"/>
              </a:rPr>
              <a:t> </a:t>
            </a:r>
            <a:r>
              <a:rPr lang="fr" sz="1800" err="1">
                <a:latin typeface="Arial"/>
                <a:ea typeface="Calibri"/>
                <a:cs typeface="Calibri"/>
              </a:rPr>
              <a:t>accessories</a:t>
            </a:r>
            <a:r>
              <a:rPr lang="fr" sz="1800">
                <a:latin typeface="Arial"/>
                <a:ea typeface="Calibri"/>
                <a:cs typeface="Calibri"/>
              </a:rPr>
              <a:t> section</a:t>
            </a:r>
            <a:endParaRPr lang="en-US" sz="1800">
              <a:latin typeface="Arial"/>
              <a:cs typeface="Calibri"/>
            </a:endParaRPr>
          </a:p>
          <a:p>
            <a:endParaRPr lang="en-US" sz="1600">
              <a:latin typeface="Arial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DB8185-69ED-8368-991D-3D5232E99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07" b="7835"/>
          <a:stretch>
            <a:fillRect/>
          </a:stretch>
        </p:blipFill>
        <p:spPr>
          <a:xfrm>
            <a:off x="1085221" y="3244880"/>
            <a:ext cx="6973566" cy="30955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0199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76" y="420822"/>
            <a:ext cx="8229599" cy="747713"/>
          </a:xfrm>
        </p:spPr>
        <p:txBody>
          <a:bodyPr lIns="91440" tIns="45720" rIns="91440" bIns="45720" anchor="t"/>
          <a:lstStyle/>
          <a:p>
            <a:r>
              <a:rPr lang="en-US"/>
              <a:t>Solution Impact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276" y="790606"/>
            <a:ext cx="8355524" cy="5155084"/>
          </a:xfrm>
        </p:spPr>
        <p:txBody>
          <a:bodyPr/>
          <a:lstStyle/>
          <a:p>
            <a:pPr algn="just">
              <a:buNone/>
            </a:pPr>
            <a:endParaRPr lang="en-US" sz="2000" b="0">
              <a:solidFill>
                <a:schemeClr val="tx1"/>
              </a:solidFill>
              <a:cs typeface="Arial"/>
            </a:endParaRPr>
          </a:p>
          <a:p>
            <a:pPr algn="just">
              <a:buNone/>
            </a:pPr>
            <a:r>
              <a:rPr lang="en-US" sz="2000">
                <a:solidFill>
                  <a:schemeClr val="tx1"/>
                </a:solidFill>
              </a:rPr>
              <a:t>Global &amp; Local Impact</a:t>
            </a:r>
            <a:endParaRPr lang="en-US">
              <a:solidFill>
                <a:schemeClr val="tx1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Promotes sustainable fashion &amp; mindful use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Reduces clothing waste by making forgotten items visible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Encourages donation (especially in Lebanon)</a:t>
            </a:r>
            <a:endParaRPr lang="en-US" sz="1800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endParaRPr lang="en-US" sz="1800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r>
              <a:rPr lang="en-US" sz="2000">
                <a:solidFill>
                  <a:schemeClr val="tx1"/>
                </a:solidFill>
              </a:rPr>
              <a:t>Economic Impact</a:t>
            </a:r>
            <a:endParaRPr lang="en-US" sz="2000" b="0">
              <a:solidFill>
                <a:schemeClr val="tx1"/>
              </a:solidFill>
              <a:cs typeface="Arial"/>
            </a:endParaRPr>
          </a:p>
          <a:p>
            <a:pPr algn="just">
              <a:buFont typeface="Wingdings"/>
              <a:buChar char="§"/>
            </a:pP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Saves money by maximizing outfit reuse</a:t>
            </a:r>
            <a:endParaRPr lang="en-US" sz="1800">
              <a:solidFill>
                <a:schemeClr val="tx1"/>
              </a:solidFill>
            </a:endParaRPr>
          </a:p>
          <a:p>
            <a:pPr algn="just">
              <a:buFont typeface="Wingdings"/>
              <a:buChar char="§"/>
            </a:pPr>
            <a:r>
              <a:rPr lang="en-US" sz="1800" b="0">
                <a:solidFill>
                  <a:schemeClr val="tx1"/>
                </a:solidFill>
                <a:ea typeface="+mn-lt"/>
                <a:cs typeface="+mn-lt"/>
              </a:rPr>
              <a:t>Fights overconsumption </a:t>
            </a:r>
          </a:p>
          <a:p>
            <a:pPr algn="just">
              <a:buFont typeface="Wingdings"/>
              <a:buChar char="§"/>
            </a:pPr>
            <a:endParaRPr lang="en-US" b="0">
              <a:solidFill>
                <a:schemeClr val="tx1"/>
              </a:solidFill>
              <a:cs typeface="Arial"/>
            </a:endParaRPr>
          </a:p>
          <a:p>
            <a:pPr marL="0" indent="0" algn="just">
              <a:buNone/>
            </a:pPr>
            <a:r>
              <a:rPr lang="en-US" sz="2000">
                <a:solidFill>
                  <a:schemeClr val="tx1"/>
                </a:solidFill>
              </a:rPr>
              <a:t>E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nvironmental Impact (UN SDG 12):</a:t>
            </a:r>
          </a:p>
          <a:p>
            <a:pPr marL="0" indent="0" algn="just">
              <a:buNone/>
            </a:pPr>
            <a:r>
              <a:rPr lang="en-US" sz="2000" b="0">
                <a:solidFill>
                  <a:schemeClr val="tx1"/>
                </a:solidFill>
                <a:ea typeface="+mn-lt"/>
                <a:cs typeface="+mn-lt"/>
              </a:rPr>
              <a:t>➕Less textile waste, lower fashion footprint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000" b="0">
                <a:solidFill>
                  <a:schemeClr val="tx1"/>
                </a:solidFill>
                <a:ea typeface="+mn-lt"/>
                <a:cs typeface="+mn-lt"/>
              </a:rPr>
              <a:t>➖AI training consumes energy -&gt; CO₂ emissions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pPr algn="just">
              <a:buNone/>
            </a:pPr>
            <a:endParaRPr lang="en-US" sz="2000">
              <a:solidFill>
                <a:schemeClr val="tx1"/>
              </a:solidFill>
            </a:endParaRPr>
          </a:p>
          <a:p>
            <a:pPr marL="0" indent="0" algn="just">
              <a:buFont typeface="Wingdings"/>
              <a:buNone/>
            </a:pPr>
            <a:endParaRPr lang="en-US" b="0">
              <a:cs typeface="Arial"/>
            </a:endParaRPr>
          </a:p>
          <a:p>
            <a:pPr algn="just">
              <a:buFont typeface="Wingdings"/>
              <a:buChar char="§"/>
            </a:pPr>
            <a:endParaRPr lang="en-US" b="0">
              <a:cs typeface="Arial"/>
            </a:endParaRPr>
          </a:p>
          <a:p>
            <a:pPr marL="0" indent="0" algn="just">
              <a:buNone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1E5981-07BD-363B-0499-39BDB7C4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  <a:p>
            <a:endParaRPr lang="fr-FR" altLang="en-US" dirty="0"/>
          </a:p>
        </p:txBody>
      </p:sp>
      <p:pic>
        <p:nvPicPr>
          <p:cNvPr id="4" name="Picture 3" descr="A hands holding a globe with people around it&#10;&#10;AI-generated content may be incorrect.">
            <a:extLst>
              <a:ext uri="{FF2B5EF4-FFF2-40B4-BE49-F238E27FC236}">
                <a16:creationId xmlns:a16="http://schemas.microsoft.com/office/drawing/2014/main" id="{7A16CB4B-C1CA-7D34-771E-200A601C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673" y="4107433"/>
            <a:ext cx="2461249" cy="23591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2225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fr-FR"/>
              <a:t>Conclusion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91" y="1048572"/>
            <a:ext cx="8229600" cy="4767626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What We've Achieved So Far</a:t>
            </a:r>
            <a:endParaRPr lang="en-US"/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System Setup: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Connected mobile app, AI model, </a:t>
            </a:r>
            <a:r>
              <a:rPr lang="en-GB" sz="1600" b="0" err="1">
                <a:solidFill>
                  <a:schemeClr val="tx1"/>
                </a:solidFill>
                <a:ea typeface="+mn-lt"/>
                <a:cs typeface="+mn-lt"/>
              </a:rPr>
              <a:t>Supabase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&amp; PostgreSQL</a:t>
            </a:r>
            <a:endParaRPr lang="fr-FR" sz="16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Database: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Clean relational structure in PostgreSQL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Visual Similarity Engine: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Matches clothing items visually ("find similar" feature)</a:t>
            </a:r>
            <a:endParaRPr lang="en-GB" sz="160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Recommendation System: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Combines metadata, </a:t>
            </a:r>
            <a:r>
              <a:rPr lang="en-GB" sz="1600" b="0" err="1">
                <a:solidFill>
                  <a:schemeClr val="tx1"/>
                </a:solidFill>
                <a:ea typeface="+mn-lt"/>
                <a:cs typeface="+mn-lt"/>
              </a:rPr>
              <a:t>color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theory &amp; probability for outfit suggestions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AI Training: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YOLOv8 model recognizing clothes </a:t>
            </a: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Mobile App: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Fully functional – Add/Remove Clothes, Closet/Outfit History, Stats, Suggestions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Wingdings" charset="0"/>
              <a:buChar char="§"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IoT:</a:t>
            </a:r>
            <a:r>
              <a:rPr lang="en-GB" sz="1600" b="0">
                <a:solidFill>
                  <a:schemeClr val="tx1"/>
                </a:solidFill>
                <a:ea typeface="+mn-lt"/>
                <a:cs typeface="+mn-lt"/>
              </a:rPr>
              <a:t> Automated item removal from closet</a:t>
            </a:r>
            <a:endParaRPr lang="en-GB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Wingdings" charset="0"/>
              <a:buChar char="§"/>
            </a:pPr>
            <a:endParaRPr lang="en-GB" sz="1600" b="0">
              <a:solidFill>
                <a:schemeClr val="tx1"/>
              </a:solidFill>
              <a:cs typeface="Arial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What’s Coming Next</a:t>
            </a: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Complete AI Training:</a:t>
            </a:r>
            <a:r>
              <a:rPr lang="en-US" sz="1600" b="0">
                <a:solidFill>
                  <a:schemeClr val="tx1"/>
                </a:solidFill>
                <a:ea typeface="+mn-lt"/>
                <a:cs typeface="+mn-lt"/>
              </a:rPr>
              <a:t> Improve accuracy, add labels &amp; personalize to user style</a:t>
            </a:r>
            <a:endParaRPr lang="en-US" sz="1600" b="0">
              <a:solidFill>
                <a:schemeClr val="tx1"/>
              </a:solidFill>
              <a:cs typeface="Arial"/>
            </a:endParaRP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Weather &amp; Calendar Integration:</a:t>
            </a:r>
            <a:r>
              <a:rPr lang="en-US" sz="1600" b="0">
                <a:solidFill>
                  <a:schemeClr val="tx1"/>
                </a:solidFill>
                <a:ea typeface="+mn-lt"/>
                <a:cs typeface="+mn-lt"/>
              </a:rPr>
              <a:t> Smarter outfit suggestions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Wingdings" charset="2"/>
              <a:buChar char="§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Custom Backend:</a:t>
            </a:r>
            <a:r>
              <a:rPr lang="en-US" sz="1600" b="0">
                <a:solidFill>
                  <a:schemeClr val="tx1"/>
                </a:solidFill>
                <a:ea typeface="+mn-lt"/>
                <a:cs typeface="+mn-lt"/>
              </a:rPr>
              <a:t> Move beyond </a:t>
            </a:r>
            <a:r>
              <a:rPr lang="en-US" sz="1600" b="0" err="1">
                <a:solidFill>
                  <a:schemeClr val="tx1"/>
                </a:solidFill>
                <a:ea typeface="+mn-lt"/>
                <a:cs typeface="+mn-lt"/>
              </a:rPr>
              <a:t>Supabase</a:t>
            </a:r>
            <a:endParaRPr lang="en-US" err="1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Wingdings" charset="2"/>
              <a:buChar char="§"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Storage Cleanup:</a:t>
            </a:r>
            <a:r>
              <a:rPr lang="en-US" sz="1600" b="0">
                <a:solidFill>
                  <a:schemeClr val="tx1"/>
                </a:solidFill>
                <a:ea typeface="+mn-lt"/>
                <a:cs typeface="+mn-lt"/>
              </a:rPr>
              <a:t> Remove unused images &amp; old records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Wingdings" charset="2"/>
              <a:buChar char="§"/>
            </a:pPr>
            <a:endParaRPr lang="en-US" sz="1600" b="0">
              <a:solidFill>
                <a:schemeClr val="tx1"/>
              </a:solidFill>
              <a:cs typeface="Arial"/>
            </a:endParaRPr>
          </a:p>
          <a:p>
            <a:pPr marL="0" indent="0">
              <a:buNone/>
            </a:pPr>
            <a:endParaRPr lang="en-US"/>
          </a:p>
          <a:p>
            <a:pPr lvl="1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26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7F74A76-F125-ECE6-2467-A131CA46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979305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2F95-2D89-EF31-3ABA-90B7DC61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9047-A4B8-4E5B-08C9-715A86DA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fr-FR"/>
              <a:t>Conclusion (2/2)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F8B91-37A2-620D-2AA7-81F8FFE6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Closet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A0C88-3664-69FF-9D16-656E4734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27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010A8A-1ED0-686E-C449-57FAD04E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83522-2B5D-DFAB-F522-041620A8F21C}"/>
              </a:ext>
            </a:extLst>
          </p:cNvPr>
          <p:cNvSpPr txBox="1"/>
          <p:nvPr/>
        </p:nvSpPr>
        <p:spPr>
          <a:xfrm>
            <a:off x="454325" y="1719532"/>
            <a:ext cx="823535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Arial"/>
                <a:ea typeface="ＭＳ Ｐゴシック"/>
                <a:cs typeface="Arial"/>
              </a:rPr>
              <a:t>We would like to express our sincerest gratitude to our supervisor, </a:t>
            </a:r>
            <a:r>
              <a:rPr lang="en-US" sz="2200" b="1">
                <a:latin typeface="Arial"/>
                <a:ea typeface="ＭＳ Ｐゴシック"/>
                <a:cs typeface="Arial"/>
              </a:rPr>
              <a:t>Dr. Hanan Farhat</a:t>
            </a:r>
            <a:r>
              <a:rPr lang="en-US" sz="2200">
                <a:latin typeface="Arial"/>
                <a:ea typeface="ＭＳ Ｐゴシック"/>
                <a:cs typeface="Arial"/>
              </a:rPr>
              <a:t>, for her constant support, guidance, and motivation throughout this project. </a:t>
            </a:r>
          </a:p>
          <a:p>
            <a:endParaRPr lang="en-US" sz="2200">
              <a:latin typeface="Arial"/>
              <a:ea typeface="ＭＳ Ｐゴシック"/>
              <a:cs typeface="Arial"/>
            </a:endParaRPr>
          </a:p>
          <a:p>
            <a:r>
              <a:rPr lang="en-US" sz="2200">
                <a:latin typeface="Arial"/>
                <a:ea typeface="ＭＳ Ｐゴシック"/>
                <a:cs typeface="Arial"/>
              </a:rPr>
              <a:t>We're also grateful to each other, the Smart Closet team, for the effort, collaboration, and friendship that brought this project to life. </a:t>
            </a:r>
            <a:endParaRPr lang="en-US" sz="2200">
              <a:latin typeface="Arial"/>
              <a:cs typeface="Arial"/>
            </a:endParaRPr>
          </a:p>
        </p:txBody>
      </p:sp>
      <p:pic>
        <p:nvPicPr>
          <p:cNvPr id="9" name="Picture 8" descr="A group of people in a circle&#10;&#10;AI-generated content may be incorrect.">
            <a:extLst>
              <a:ext uri="{FF2B5EF4-FFF2-40B4-BE49-F238E27FC236}">
                <a16:creationId xmlns:a16="http://schemas.microsoft.com/office/drawing/2014/main" id="{B09C104C-157D-E59C-F9E9-B5FFCD2DA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76425"/>
            <a:ext cx="3048000" cy="27146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2705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37E9-1CC5-EF73-6F15-6CB0A1D5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5282-2DC0-1743-B193-7397638FB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14" y="1048572"/>
            <a:ext cx="8229600" cy="4767626"/>
          </a:xfrm>
        </p:spPr>
        <p:txBody>
          <a:bodyPr/>
          <a:lstStyle/>
          <a:p>
            <a:pPr algn="ctr">
              <a:buNone/>
            </a:pPr>
            <a:endParaRPr lang="en-US" sz="4800">
              <a:cs typeface="Arial"/>
            </a:endParaRPr>
          </a:p>
          <a:p>
            <a:pPr algn="ctr">
              <a:buNone/>
            </a:pPr>
            <a:endParaRPr lang="en-US" sz="4800">
              <a:cs typeface="Arial"/>
            </a:endParaRPr>
          </a:p>
          <a:p>
            <a:pPr algn="ctr">
              <a:buNone/>
            </a:pPr>
            <a:r>
              <a:rPr lang="en-US" sz="4800">
                <a:cs typeface="Arial"/>
              </a:rPr>
              <a:t>THANK YOU!</a:t>
            </a:r>
            <a:endParaRPr lang="en-US"/>
          </a:p>
          <a:p>
            <a:pPr algn="ctr">
              <a:buNone/>
            </a:pPr>
            <a:r>
              <a:rPr lang="en-US" sz="4800">
                <a:cs typeface="Arial"/>
              </a:rPr>
              <a:t>Q&amp;A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3D60-3574-D2AD-A35E-06AAFEAC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t"/>
          <a:lstStyle/>
          <a:p>
            <a:r>
              <a:rPr lang="fr-FR">
                <a:cs typeface="Arial"/>
              </a:rPr>
              <a:t>Smart </a:t>
            </a:r>
            <a:r>
              <a:rPr lang="fr-FR" err="1">
                <a:cs typeface="Arial"/>
              </a:rPr>
              <a:t>Closet</a:t>
            </a:r>
            <a:endParaRPr lang="fr-FR" err="1">
              <a:solidFill>
                <a:srgbClr val="000000"/>
              </a:solidFill>
              <a:cs typeface="Arial"/>
            </a:endParaRPr>
          </a:p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937D-207F-EC8D-45E3-8981024F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28</a:t>
            </a:fld>
            <a:endParaRPr lang="fr-FR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A41DB2-B66F-8E86-1A70-A4CCAE3B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MDP25-19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98398893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c6e32e-441f-4971-8ab4-199ad55ecb6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C672C9E2224E4DB73CCA952CE56FE6" ma:contentTypeVersion="14" ma:contentTypeDescription="Create a new document." ma:contentTypeScope="" ma:versionID="baf530dcfbe6810cc1956ec180a08faf">
  <xsd:schema xmlns:xsd="http://www.w3.org/2001/XMLSchema" xmlns:xs="http://www.w3.org/2001/XMLSchema" xmlns:p="http://schemas.microsoft.com/office/2006/metadata/properties" xmlns:ns3="dbc6e32e-441f-4971-8ab4-199ad55ecb65" xmlns:ns4="7f7e270f-2c10-4866-8c27-406962039774" targetNamespace="http://schemas.microsoft.com/office/2006/metadata/properties" ma:root="true" ma:fieldsID="b7f156cce427b570bab9a7163ff347e0" ns3:_="" ns4:_="">
    <xsd:import namespace="dbc6e32e-441f-4971-8ab4-199ad55ecb65"/>
    <xsd:import namespace="7f7e270f-2c10-4866-8c27-4069620397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c6e32e-441f-4971-8ab4-199ad55ec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7e270f-2c10-4866-8c27-4069620397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C198B8-982D-4747-B557-7F1FCC729A17}">
  <ds:schemaRefs>
    <ds:schemaRef ds:uri="7f7e270f-2c10-4866-8c27-406962039774"/>
    <ds:schemaRef ds:uri="dbc6e32e-441f-4971-8ab4-199ad55ecb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4D482F5-A42C-4394-819A-918BAB866875}">
  <ds:schemaRefs>
    <ds:schemaRef ds:uri="7f7e270f-2c10-4866-8c27-406962039774"/>
    <ds:schemaRef ds:uri="dbc6e32e-441f-4971-8ab4-199ad55ecb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31A1A8C-8BA3-4FEC-8338-3B74102741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3</TotalTime>
  <Words>1946</Words>
  <Application>Microsoft Office PowerPoint</Application>
  <PresentationFormat>On-screen Show (4:3)</PresentationFormat>
  <Paragraphs>436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ＭＳ Ｐゴシック</vt:lpstr>
      <vt:lpstr>Arial</vt:lpstr>
      <vt:lpstr>Calibri</vt:lpstr>
      <vt:lpstr>Consolas</vt:lpstr>
      <vt:lpstr>Courier New</vt:lpstr>
      <vt:lpstr>Myriad Pro Light</vt:lpstr>
      <vt:lpstr>Wingdings</vt:lpstr>
      <vt:lpstr>Wingdings,Sans-Serif</vt:lpstr>
      <vt:lpstr>TemplateDiaporamaIRISA-2016</vt:lpstr>
      <vt:lpstr>3.page de contenu</vt:lpstr>
      <vt:lpstr>1_3.page de contenu</vt:lpstr>
      <vt:lpstr>Smart Closet</vt:lpstr>
      <vt:lpstr>Introduction</vt:lpstr>
      <vt:lpstr>Project Objectives and Outcomes  </vt:lpstr>
      <vt:lpstr>Project Functional Requirements</vt:lpstr>
      <vt:lpstr>Project Constraints</vt:lpstr>
      <vt:lpstr>Related Works</vt:lpstr>
      <vt:lpstr>Solution design (1/2)   </vt:lpstr>
      <vt:lpstr>Solution design (2/2)</vt:lpstr>
      <vt:lpstr>Project Management </vt:lpstr>
      <vt:lpstr>Solution Implementation (1/12)</vt:lpstr>
      <vt:lpstr>Solution Implementation (2/12)</vt:lpstr>
      <vt:lpstr> Solution Implementation (3/12) Mobile Developpement</vt:lpstr>
      <vt:lpstr>Solution Implementation (4/12) Database and Backend</vt:lpstr>
      <vt:lpstr>SmartCloset Server</vt:lpstr>
      <vt:lpstr> Solution Implementation (6/12) IOT Automation – Arduino Uno </vt:lpstr>
      <vt:lpstr>PowerPoint Presentation</vt:lpstr>
      <vt:lpstr>PowerPoint Presentation</vt:lpstr>
      <vt:lpstr>Solution Implementation (9/12)</vt:lpstr>
      <vt:lpstr>Solution Implementation (10/12)</vt:lpstr>
      <vt:lpstr>Solution Implementation (11/12)</vt:lpstr>
      <vt:lpstr>Solution Implementation (12/12)</vt:lpstr>
      <vt:lpstr>Results and Analysis</vt:lpstr>
      <vt:lpstr>Testing, Evaluation and Iterative improvements (1/2)</vt:lpstr>
      <vt:lpstr>Testing, Evaluation and Iterative improvements (2/2)</vt:lpstr>
      <vt:lpstr>Solution Impact </vt:lpstr>
      <vt:lpstr>Conclusion (1/2)</vt:lpstr>
      <vt:lpstr>Conclusion (2/2)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Lenovo</cp:lastModifiedBy>
  <cp:revision>352</cp:revision>
  <cp:lastPrinted>2016-08-01T06:28:00Z</cp:lastPrinted>
  <dcterms:created xsi:type="dcterms:W3CDTF">2019-05-04T08:15:08Z</dcterms:created>
  <dcterms:modified xsi:type="dcterms:W3CDTF">2025-05-21T15:45:36Z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0x0101003DC672C9E2224E4DB73CCA952CE56FE6</vt:lpwstr>
  </property>
</Properties>
</file>